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42"/>
    <p:sldId id="291" r:id="rId43"/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Talk Title — use when you have no headshot. The anniversary lockup fills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Headshot: click the round image placeholder to insert a photo (same as the Diagram slide). It stays round with the pink border. To swap later: select it → Replace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duplicate this slide for each new section and change the number and title. The big number is a normal text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picture placeholder to insert a diagram. Export diagrams on a transparent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custom stat, ask the EnvoyCon presentation skill to render a gradient numeral, or add a text box in Space Grotesk Bold, pink.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what you need onto your slides. The gradient is only for big numerals, photo rims and accent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Talk Title — use when you have no headshot. The anniversary lockup fills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Headshot: click the round image placeholder to insert a photo (same as the Diagram slide). It stays round with the pink border. To swap later: select it → Replace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divider: duplicate this slide for each new section and change the number and title. The big number is a normal text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picture placeholder to insert a diagram. Export diagrams on a transparent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custom stat, ask the EnvoyCon presentation skill to render a gradient numeral, or add a text box in Space Grotesk Bold, pink.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what you need onto your slides. The gradient is only for big numerals, photo rims and accent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guide slide and the Layout guide are for you, not your audience. Delete them (and the sample slides you do not use)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15.png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Talk 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102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8128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592860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103" name="Level chip"/>
          <p:cNvSpPr>
            <a:spLocks noGrp="1"/>
          </p:cNvSpPr>
          <p:nvPr>
            <p:ph type="body" idx="14" hasCustomPrompt="1"/>
          </p:nvPr>
        </p:nvSpPr>
        <p:spPr>
          <a:xfrm>
            <a:off x="2819400" y="2095500"/>
            <a:ext cx="1524000" cy="317500"/>
          </a:xfrm>
          <a:prstGeom prst="roundRect">
            <a:avLst>
              <a:gd name="adj" fmla="val 50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LEVEL</a:t>
            </a:r>
          </a:p>
        </p:txBody>
      </p:sp>
      <p:sp>
        <p:nvSpPr>
          <p:cNvPr id="104" name="Talk title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7493000" cy="209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400" b="1" spc="-8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Your talk title goes here, set tight in Space Grotesk</a:t>
            </a:r>
          </a:p>
        </p:txBody>
      </p:sp>
      <p:pic>
        <p:nvPicPr>
          <p:cNvPr id="105" name="Accent bar" descr="Accent ba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5118100"/>
            <a:ext cx="50800" cy="711200"/>
          </a:xfrm>
          <a:prstGeom prst="rect">
            <a:avLst/>
          </a:prstGeom>
        </p:spPr>
      </p:pic>
      <p:sp>
        <p:nvSpPr>
          <p:cNvPr id="106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5105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 spc="-22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07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1041400" y="54991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pic>
        <p:nvPicPr>
          <p:cNvPr id="108" name="Anniversary lockup" descr="Anniversary locku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5500" y="3810000"/>
            <a:ext cx="2794000" cy="1408661"/>
          </a:xfrm>
          <a:prstGeom prst="rect">
            <a:avLst/>
          </a:prstGeom>
        </p:spPr>
      </p:pic>
      <p:sp>
        <p:nvSpPr>
          <p:cNvPr id="109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  ·  2016 — 2026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Talk Title · Photo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111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8128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592860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112" name="Level chip"/>
          <p:cNvSpPr>
            <a:spLocks noGrp="1"/>
          </p:cNvSpPr>
          <p:nvPr>
            <p:ph type="body" idx="14" hasCustomPrompt="1"/>
          </p:nvPr>
        </p:nvSpPr>
        <p:spPr>
          <a:xfrm>
            <a:off x="2819400" y="2095500"/>
            <a:ext cx="1524000" cy="317500"/>
          </a:xfrm>
          <a:prstGeom prst="roundRect">
            <a:avLst>
              <a:gd name="adj" fmla="val 50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LEVEL</a:t>
            </a:r>
          </a:p>
        </p:txBody>
      </p:sp>
      <p:pic>
        <p:nvPicPr>
          <p:cNvPr id="113" name="Headshot glow" descr="Headshot gl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28417" y="1195917"/>
            <a:ext cx="4339167" cy="4339167"/>
          </a:xfrm>
          <a:prstGeom prst="rect">
            <a:avLst/>
          </a:prstGeom>
        </p:spPr>
      </p:pic>
      <p:sp>
        <p:nvSpPr>
          <p:cNvPr id="114" name="Headshot (round)"/>
          <p:cNvSpPr>
            <a:spLocks noGrp="1"/>
          </p:cNvSpPr>
          <p:nvPr>
            <p:ph type="pic" idx="24"/>
          </p:nvPr>
        </p:nvSpPr>
        <p:spPr>
          <a:xfrm>
            <a:off x="7810500" y="1778000"/>
            <a:ext cx="3175000" cy="3175000"/>
          </a:xfrm>
          <a:prstGeom prst="ellipse">
            <a:avLst/>
          </a:prstGeom>
          <a:solidFill>
            <a:srgbClr val="1C0930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115" name="Talk title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6350000" cy="209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000" b="1" spc="-8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Your talk title goes here, set tight in Space Grotesk</a:t>
            </a:r>
          </a:p>
        </p:txBody>
      </p:sp>
      <p:pic>
        <p:nvPicPr>
          <p:cNvPr id="116" name="Accent bar" descr="Accent ba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800" y="5118100"/>
            <a:ext cx="50800" cy="711200"/>
          </a:xfrm>
          <a:prstGeom prst="rect">
            <a:avLst/>
          </a:prstGeom>
        </p:spPr>
      </p:pic>
      <p:sp>
        <p:nvSpPr>
          <p:cNvPr id="117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51054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 spc="-22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18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1041400" y="5499100"/>
            <a:ext cx="5715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119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  ·  2016 — 2026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About M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Headshot glow" descr="Headshot glow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0267" y="1240367"/>
            <a:ext cx="3818467" cy="3818467"/>
          </a:xfrm>
          <a:prstGeom prst="rect">
            <a:avLst/>
          </a:prstGeom>
        </p:spPr>
      </p:pic>
      <p:sp>
        <p:nvSpPr>
          <p:cNvPr id="121" name="Headshot (round)"/>
          <p:cNvSpPr>
            <a:spLocks noGrp="1"/>
          </p:cNvSpPr>
          <p:nvPr>
            <p:ph type="pic" idx="24"/>
          </p:nvPr>
        </p:nvSpPr>
        <p:spPr>
          <a:xfrm>
            <a:off x="952500" y="1752600"/>
            <a:ext cx="2794000" cy="2794000"/>
          </a:xfrm>
          <a:prstGeom prst="ellipse">
            <a:avLst/>
          </a:prstGeom>
          <a:solidFill>
            <a:srgbClr val="1C0930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122" name="Kicker"/>
          <p:cNvSpPr>
            <a:spLocks noGrp="1"/>
          </p:cNvSpPr>
          <p:nvPr>
            <p:ph type="body" idx="10" hasCustomPrompt="1"/>
          </p:nvPr>
        </p:nvSpPr>
        <p:spPr>
          <a:xfrm>
            <a:off x="4572000" y="15875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ABOUT ME</a:t>
            </a:r>
          </a:p>
        </p:txBody>
      </p:sp>
      <p:sp>
        <p:nvSpPr>
          <p:cNvPr id="123" name="Name"/>
          <p:cNvSpPr>
            <a:spLocks noGrp="1"/>
          </p:cNvSpPr>
          <p:nvPr>
            <p:ph type="title" hasCustomPrompt="1"/>
          </p:nvPr>
        </p:nvSpPr>
        <p:spPr>
          <a:xfrm>
            <a:off x="4572000" y="1892300"/>
            <a:ext cx="6350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 spc="-54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24" name="Role"/>
          <p:cNvSpPr>
            <a:spLocks noGrp="1"/>
          </p:cNvSpPr>
          <p:nvPr>
            <p:ph type="body" idx="15" hasCustomPrompt="1"/>
          </p:nvPr>
        </p:nvSpPr>
        <p:spPr>
          <a:xfrm>
            <a:off x="4572000" y="26035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600" b="1">
                <a:solidFill>
                  <a:srgbClr val="EBA6E8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125" name="Bio"/>
          <p:cNvSpPr>
            <a:spLocks noGrp="1"/>
          </p:cNvSpPr>
          <p:nvPr>
            <p:ph type="body" idx="1"/>
          </p:nvPr>
        </p:nvSpPr>
        <p:spPr>
          <a:xfrm>
            <a:off x="4572000" y="3111500"/>
            <a:ext cx="6350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Maintainer of …</a:t>
            </a:r>
          </a:p>
          <a:p>
            <a:r>
              <a:rPr lang="en-US" dirty="0"/>
              <a:t>Building …</a:t>
            </a:r>
          </a:p>
          <a:p>
            <a:r>
              <a:rPr lang="en-US" dirty="0"/>
              <a:t>Previously …</a:t>
            </a:r>
          </a:p>
        </p:txBody>
      </p:sp>
      <p:sp>
        <p:nvSpPr>
          <p:cNvPr id="126" name="Handles"/>
          <p:cNvSpPr>
            <a:spLocks noGrp="1"/>
          </p:cNvSpPr>
          <p:nvPr>
            <p:ph type="body" idx="16" hasCustomPrompt="1"/>
          </p:nvPr>
        </p:nvSpPr>
        <p:spPr>
          <a:xfrm>
            <a:off x="4572000" y="520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950" b="0" cap="all" spc="133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GITHUB @HANDLE  ·  LINKEDIN /IN/HANDLE</a:t>
            </a:r>
          </a:p>
        </p:txBody>
      </p:sp>
      <p:cxnSp>
        <p:nvCxnSpPr>
          <p:cNvPr id="127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28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29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EnvoyCon 10 Years lockup (white)" descr="EnvoyCon 10 Years lockup (white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131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40640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200" b="1" cap="all" spc="264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PART TWO</a:t>
            </a:r>
          </a:p>
        </p:txBody>
      </p:sp>
      <p:sp>
        <p:nvSpPr>
          <p:cNvPr id="132" name="Section title"/>
          <p:cNvSpPr>
            <a:spLocks noGrp="1"/>
          </p:cNvSpPr>
          <p:nvPr>
            <p:ph type="title" hasCustomPrompt="1"/>
          </p:nvPr>
        </p:nvSpPr>
        <p:spPr>
          <a:xfrm>
            <a:off x="812800" y="4394200"/>
            <a:ext cx="9525000" cy="1460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6000"/>
              </a:lnSpc>
              <a:spcBef>
                <a:spcPts val="0"/>
              </a:spcBef>
              <a:buNone/>
              <a:defRPr sz="6000" b="1" spc="-12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Title +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134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SECTION · TOPIC</a:t>
            </a:r>
          </a:p>
        </p:txBody>
      </p:sp>
      <p:sp>
        <p:nvSpPr>
          <p:cNvPr id="135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Slide title in Space Grotesk</a:t>
            </a:r>
          </a:p>
        </p:txBody>
      </p:sp>
      <p:sp>
        <p:nvSpPr>
          <p:cNvPr id="136" name="Content"/>
          <p:cNvSpPr>
            <a:spLocks noGrp="1"/>
          </p:cNvSpPr>
          <p:nvPr>
            <p:ph type="body" idx="1"/>
          </p:nvPr>
        </p:nvSpPr>
        <p:spPr>
          <a:xfrm>
            <a:off x="812800" y="2540000"/>
            <a:ext cx="9906000" cy="336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First point, in Inter</a:t>
            </a:r>
          </a:p>
          <a:p>
            <a:r>
              <a:rPr lang="en-US" dirty="0"/>
              <a:t>Second point</a:t>
            </a:r>
          </a:p>
          <a:p>
            <a:r>
              <a:rPr lang="en-US" dirty="0"/>
              <a:t>Supporting detail</a:t>
            </a:r>
          </a:p>
        </p:txBody>
      </p:sp>
      <p:cxnSp>
        <p:nvCxnSpPr>
          <p:cNvPr id="137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38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39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Two Column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141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SECTION · TOPIC</a:t>
            </a:r>
          </a:p>
        </p:txBody>
      </p:sp>
      <p:sp>
        <p:nvSpPr>
          <p:cNvPr id="142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Compare two ideas side by side</a:t>
            </a:r>
          </a:p>
        </p:txBody>
      </p:sp>
      <p:sp>
        <p:nvSpPr>
          <p:cNvPr id="143" name="Column 1 label"/>
          <p:cNvSpPr>
            <a:spLocks noGrp="1"/>
          </p:cNvSpPr>
          <p:nvPr>
            <p:ph type="body" idx="18" hasCustomPrompt="1"/>
          </p:nvPr>
        </p:nvSpPr>
        <p:spPr>
          <a:xfrm>
            <a:off x="812800" y="2540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BEFORE</a:t>
            </a:r>
          </a:p>
        </p:txBody>
      </p:sp>
      <p:cxnSp>
        <p:nvCxnSpPr>
          <p:cNvPr id="144" name="Column 1 rule"/>
          <p:cNvCxnSpPr/>
          <p:nvPr userDrawn="1"/>
        </p:nvCxnSpPr>
        <p:spPr>
          <a:xfrm>
            <a:off x="812800" y="2870200"/>
            <a:ext cx="48260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45" name="Column 1"/>
          <p:cNvSpPr>
            <a:spLocks noGrp="1"/>
          </p:cNvSpPr>
          <p:nvPr>
            <p:ph type="body" idx="1"/>
          </p:nvPr>
        </p:nvSpPr>
        <p:spPr>
          <a:xfrm>
            <a:off x="812800" y="3022600"/>
            <a:ext cx="4826000" cy="292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</p:txBody>
      </p:sp>
      <p:sp>
        <p:nvSpPr>
          <p:cNvPr id="146" name="Column 2 label"/>
          <p:cNvSpPr>
            <a:spLocks noGrp="1"/>
          </p:cNvSpPr>
          <p:nvPr>
            <p:ph type="body" idx="19" hasCustomPrompt="1"/>
          </p:nvPr>
        </p:nvSpPr>
        <p:spPr>
          <a:xfrm>
            <a:off x="6197600" y="2540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AFTER</a:t>
            </a:r>
          </a:p>
        </p:txBody>
      </p:sp>
      <p:cxnSp>
        <p:nvCxnSpPr>
          <p:cNvPr id="147" name="Column 2 rule"/>
          <p:cNvCxnSpPr/>
          <p:nvPr userDrawn="1"/>
        </p:nvCxnSpPr>
        <p:spPr>
          <a:xfrm>
            <a:off x="6197600" y="2870200"/>
            <a:ext cx="48260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48" name="Column 2"/>
          <p:cNvSpPr>
            <a:spLocks noGrp="1"/>
          </p:cNvSpPr>
          <p:nvPr>
            <p:ph type="body" idx="2"/>
          </p:nvPr>
        </p:nvSpPr>
        <p:spPr>
          <a:xfrm>
            <a:off x="6197600" y="3022600"/>
            <a:ext cx="4826000" cy="292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</p:txBody>
      </p:sp>
      <p:cxnSp>
        <p:nvCxnSpPr>
          <p:cNvPr id="149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50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51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Co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153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CONFIG</a:t>
            </a:r>
          </a:p>
        </p:txBody>
      </p:sp>
      <p:sp>
        <p:nvSpPr>
          <p:cNvPr id="154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Show the config that does the work</a:t>
            </a:r>
          </a:p>
        </p:txBody>
      </p:sp>
      <p:sp>
        <p:nvSpPr>
          <p:cNvPr id="155" name="Code panel"/>
          <p:cNvSpPr/>
          <p:nvPr userDrawn="1"/>
        </p:nvSpPr>
        <p:spPr>
          <a:xfrm>
            <a:off x="812800" y="2095500"/>
            <a:ext cx="10566400" cy="3810000"/>
          </a:xfrm>
          <a:prstGeom prst="roundRect">
            <a:avLst>
              <a:gd name="adj" fmla="val 32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6" name="Window dot"/>
          <p:cNvSpPr/>
          <p:nvPr userDrawn="1"/>
        </p:nvSpPr>
        <p:spPr>
          <a:xfrm>
            <a:off x="1016000" y="2286000"/>
            <a:ext cx="88900" cy="88900"/>
          </a:xfrm>
          <a:prstGeom prst="ellipse">
            <a:avLst/>
          </a:prstGeom>
          <a:solidFill>
            <a:srgbClr val="D163C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Window dot"/>
          <p:cNvSpPr/>
          <p:nvPr userDrawn="1"/>
        </p:nvSpPr>
        <p:spPr>
          <a:xfrm>
            <a:off x="1206500" y="2286000"/>
            <a:ext cx="88900" cy="88900"/>
          </a:xfrm>
          <a:prstGeom prst="ellipse">
            <a:avLst/>
          </a:prstGeom>
          <a:solidFill>
            <a:srgbClr val="EBA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Window dot"/>
          <p:cNvSpPr/>
          <p:nvPr userDrawn="1"/>
        </p:nvSpPr>
        <p:spPr>
          <a:xfrm>
            <a:off x="1397000" y="2286000"/>
            <a:ext cx="88900" cy="88900"/>
          </a:xfrm>
          <a:prstGeom prst="ellipse">
            <a:avLst/>
          </a:prstGeom>
          <a:solidFill>
            <a:srgbClr val="8882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Code label"/>
          <p:cNvSpPr>
            <a:spLocks noGrp="1"/>
          </p:cNvSpPr>
          <p:nvPr>
            <p:ph type="body" idx="20" hasCustomPrompt="1"/>
          </p:nvPr>
        </p:nvSpPr>
        <p:spPr>
          <a:xfrm>
            <a:off x="8839200" y="22352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850" b="1" cap="all" spc="119">
                <a:solidFill>
                  <a:srgbClr val="88828D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YAML</a:t>
            </a:r>
          </a:p>
        </p:txBody>
      </p:sp>
      <p:sp>
        <p:nvSpPr>
          <p:cNvPr id="160" name="Code"/>
          <p:cNvSpPr>
            <a:spLocks noGrp="1"/>
          </p:cNvSpPr>
          <p:nvPr>
            <p:ph type="body" idx="1"/>
          </p:nvPr>
        </p:nvSpPr>
        <p:spPr>
          <a:xfrm>
            <a:off x="1066800" y="2603500"/>
            <a:ext cx="10058400" cy="317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35000"/>
              </a:lnSpc>
              <a:spcBef>
                <a:spcPts val="0"/>
              </a:spcBef>
              <a:buNone/>
              <a:defRPr sz="13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  <a:lvl2pPr algn="l" marL="0" indent="0">
              <a:lnSpc>
                <a:spcPct val="135000"/>
              </a:lnSpc>
              <a:spcBef>
                <a:spcPts val="0"/>
              </a:spcBef>
              <a:buNone/>
              <a:defRPr sz="1300" b="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2pPr>
          </a:lstStyle>
          <a:p>
            <a:r>
              <a:rPr lang="en-US" dirty="0"/>
              <a:t>apiVersion: gateway.networking.k8s.io/v1</a:t>
            </a:r>
          </a:p>
          <a:p>
            <a:r>
              <a:rPr lang="en-US" dirty="0"/>
              <a:t>kind: HTTPRoute</a:t>
            </a:r>
          </a:p>
          <a:p>
            <a:r>
              <a:rPr lang="en-US" dirty="0"/>
              <a:t>metadata:</a:t>
            </a:r>
          </a:p>
          <a:p>
            <a:r>
              <a:rPr lang="en-US" dirty="0"/>
              <a:t>  name: backend</a:t>
            </a:r>
          </a:p>
        </p:txBody>
      </p:sp>
      <p:cxnSp>
        <p:nvCxnSpPr>
          <p:cNvPr id="161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62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63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Diagra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165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ARCHITECTURE</a:t>
            </a:r>
          </a:p>
        </p:txBody>
      </p:sp>
      <p:sp>
        <p:nvSpPr>
          <p:cNvPr id="166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One diagram, one idea</a:t>
            </a:r>
          </a:p>
        </p:txBody>
      </p:sp>
      <p:sp>
        <p:nvSpPr>
          <p:cNvPr id="167" name="Diagram"/>
          <p:cNvSpPr>
            <a:spLocks noGrp="1"/>
          </p:cNvSpPr>
          <p:nvPr>
            <p:ph type="pic" idx="21"/>
          </p:nvPr>
        </p:nvSpPr>
        <p:spPr>
          <a:xfrm>
            <a:off x="812800" y="2095500"/>
            <a:ext cx="10566400" cy="3810000"/>
          </a:xfrm>
          <a:prstGeom prst="rect">
            <a:avLst/>
          </a:prstGeom>
          <a:solidFill>
            <a:srgbClr val="1C0930"/>
          </a:solidFill>
          <a:ln w="9525">
            <a:solidFill>
              <a:srgbClr val="461F4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cxnSp>
        <p:nvCxnSpPr>
          <p:cNvPr id="168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69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70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Big Numb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525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BY THE NUMBERS</a:t>
            </a:r>
          </a:p>
        </p:txBody>
      </p:sp>
      <p:sp>
        <p:nvSpPr>
          <p:cNvPr id="172" name="What the number means"/>
          <p:cNvSpPr>
            <a:spLocks noGrp="1"/>
          </p:cNvSpPr>
          <p:nvPr>
            <p:ph type="title" hasCustomPrompt="1"/>
          </p:nvPr>
        </p:nvSpPr>
        <p:spPr>
          <a:xfrm>
            <a:off x="812800" y="4127500"/>
            <a:ext cx="82550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What the number means</a:t>
            </a:r>
          </a:p>
        </p:txBody>
      </p:sp>
      <p:sp>
        <p:nvSpPr>
          <p:cNvPr id="173" name="Context"/>
          <p:cNvSpPr>
            <a:spLocks noGrp="1"/>
          </p:cNvSpPr>
          <p:nvPr>
            <p:ph type="body" idx="1"/>
          </p:nvPr>
        </p:nvSpPr>
        <p:spPr>
          <a:xfrm>
            <a:off x="812800" y="5080000"/>
            <a:ext cx="82550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35000"/>
              </a:lnSpc>
              <a:spcBef>
                <a:spcPts val="0"/>
              </a:spcBef>
              <a:buNone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One line of context or the source.</a:t>
            </a:r>
          </a:p>
        </p:txBody>
      </p:sp>
      <p:cxnSp>
        <p:nvCxnSpPr>
          <p:cNvPr id="174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75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76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Statem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14605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THE TAKEAWAY</a:t>
            </a:r>
          </a:p>
        </p:txBody>
      </p:sp>
      <p:sp>
        <p:nvSpPr>
          <p:cNvPr id="178" name="Statement"/>
          <p:cNvSpPr>
            <a:spLocks noGrp="1"/>
          </p:cNvSpPr>
          <p:nvPr>
            <p:ph type="title" hasCustomPrompt="1"/>
          </p:nvPr>
        </p:nvSpPr>
        <p:spPr>
          <a:xfrm>
            <a:off x="812800" y="1841500"/>
            <a:ext cx="9525000" cy="2667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02000"/>
              </a:lnSpc>
              <a:spcBef>
                <a:spcPts val="0"/>
              </a:spcBef>
              <a:buNone/>
              <a:defRPr sz="4600" b="1" spc="-92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One sentence the audience should remember after the talk.</a:t>
            </a:r>
          </a:p>
        </p:txBody>
      </p:sp>
      <p:pic>
        <p:nvPicPr>
          <p:cNvPr id="179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4826000"/>
            <a:ext cx="50800" cy="635000"/>
          </a:xfrm>
          <a:prstGeom prst="rect">
            <a:avLst/>
          </a:prstGeom>
        </p:spPr>
      </p:pic>
      <p:sp>
        <p:nvSpPr>
          <p:cNvPr id="180" name="Attribution"/>
          <p:cNvSpPr>
            <a:spLocks noGrp="1"/>
          </p:cNvSpPr>
          <p:nvPr>
            <p:ph type="body" idx="15" hasCustomPrompt="1"/>
          </p:nvPr>
        </p:nvSpPr>
        <p:spPr>
          <a:xfrm>
            <a:off x="1041400" y="4826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181" name="Attribution detail"/>
          <p:cNvSpPr>
            <a:spLocks noGrp="1"/>
          </p:cNvSpPr>
          <p:nvPr>
            <p:ph type="body" idx="16" hasCustomPrompt="1"/>
          </p:nvPr>
        </p:nvSpPr>
        <p:spPr>
          <a:xfrm>
            <a:off x="1041400" y="5156200"/>
            <a:ext cx="7620000" cy="2921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3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cxnSp>
        <p:nvCxnSpPr>
          <p:cNvPr id="182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183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184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Thank You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186" name="Badge"/>
          <p:cNvSpPr>
            <a:spLocks noGrp="1"/>
          </p:cNvSpPr>
          <p:nvPr>
            <p:ph type="body" idx="22" hasCustomPrompt="1"/>
          </p:nvPr>
        </p:nvSpPr>
        <p:spPr>
          <a:xfrm>
            <a:off x="812800" y="1905000"/>
            <a:ext cx="1270000" cy="317500"/>
          </a:xfrm>
          <a:prstGeom prst="roundRect">
            <a:avLst>
              <a:gd name="adj" fmla="val 50000"/>
            </a:avLst>
          </a:prstGeom>
          <a:solidFill>
            <a:srgbClr val="2707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Q &amp; A</a:t>
            </a:r>
          </a:p>
        </p:txBody>
      </p:sp>
      <p:sp>
        <p:nvSpPr>
          <p:cNvPr id="187" name="Thank you"/>
          <p:cNvSpPr>
            <a:spLocks noGrp="1"/>
          </p:cNvSpPr>
          <p:nvPr>
            <p:ph type="title" hasCustomPrompt="1"/>
          </p:nvPr>
        </p:nvSpPr>
        <p:spPr>
          <a:xfrm>
            <a:off x="812800" y="2413000"/>
            <a:ext cx="8255000" cy="16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7200" b="1" spc="-216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8" name="Accent bar" descr="Accent ba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4318000"/>
            <a:ext cx="50800" cy="711200"/>
          </a:xfrm>
          <a:prstGeom prst="rect">
            <a:avLst/>
          </a:prstGeom>
        </p:spPr>
      </p:pic>
      <p:sp>
        <p:nvSpPr>
          <p:cNvPr id="189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43053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90" name="Handles"/>
          <p:cNvSpPr>
            <a:spLocks noGrp="1"/>
          </p:cNvSpPr>
          <p:nvPr>
            <p:ph type="body" idx="16" hasCustomPrompt="1"/>
          </p:nvPr>
        </p:nvSpPr>
        <p:spPr>
          <a:xfrm>
            <a:off x="1041400" y="4724400"/>
            <a:ext cx="6985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 cap="all" spc="14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GITHUB @HANDLE  ·  LINKEDIN /IN/HANDLE</a:t>
            </a:r>
          </a:p>
        </p:txBody>
      </p:sp>
      <p:pic>
        <p:nvPicPr>
          <p:cNvPr id="191" name="Anniversary lockup" descr="Anniversary locku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5500" y="3810000"/>
            <a:ext cx="2794000" cy="14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Event Welcom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193" name="Badge"/>
          <p:cNvSpPr>
            <a:spLocks noGrp="1"/>
          </p:cNvSpPr>
          <p:nvPr>
            <p:ph type="body" idx="22" hasCustomPrompt="1"/>
          </p:nvPr>
        </p:nvSpPr>
        <p:spPr>
          <a:xfrm>
            <a:off x="8255000" y="635000"/>
            <a:ext cx="3111500" cy="317500"/>
          </a:xfrm>
          <a:prstGeom prst="roundRect">
            <a:avLst>
              <a:gd name="adj" fmla="val 50000"/>
            </a:avLst>
          </a:prstGeom>
          <a:solidFill>
            <a:srgbClr val="2707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10 Year Anniversary Edition</a:t>
            </a:r>
          </a:p>
        </p:txBody>
      </p:sp>
      <p:pic>
        <p:nvPicPr>
          <p:cNvPr id="194" name="Anniversary lockup" descr="Anniversary lockup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1905000"/>
            <a:ext cx="5207000" cy="2625232"/>
          </a:xfrm>
          <a:prstGeom prst="rect">
            <a:avLst/>
          </a:prstGeom>
        </p:spPr>
      </p:pic>
      <p:sp>
        <p:nvSpPr>
          <p:cNvPr id="195" name="Welcome line"/>
          <p:cNvSpPr>
            <a:spLocks noGrp="1"/>
          </p:cNvSpPr>
          <p:nvPr>
            <p:ph type="title" hasCustomPrompt="1"/>
          </p:nvPr>
        </p:nvSpPr>
        <p:spPr>
          <a:xfrm>
            <a:off x="6413500" y="2286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400" b="1" spc="-8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Welcome to EnvoyCon</a:t>
            </a:r>
          </a:p>
        </p:txBody>
      </p:sp>
      <p:sp>
        <p:nvSpPr>
          <p:cNvPr id="196" name="Sub"/>
          <p:cNvSpPr>
            <a:spLocks noGrp="1"/>
          </p:cNvSpPr>
          <p:nvPr>
            <p:ph type="body" idx="1"/>
          </p:nvPr>
        </p:nvSpPr>
        <p:spPr>
          <a:xfrm>
            <a:off x="6413500" y="43180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40000"/>
              </a:lnSpc>
              <a:spcBef>
                <a:spcPts val="0"/>
              </a:spcBef>
              <a:buNone/>
              <a:defRPr sz="16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A decade of the proxy that runs the cloud-native world.</a:t>
            </a:r>
          </a:p>
        </p:txBody>
      </p:sp>
      <p:sp>
        <p:nvSpPr>
          <p:cNvPr id="197" name="Footer meta"/>
          <p:cNvSpPr txBox="1"/>
          <p:nvPr userDrawn="1"/>
        </p:nvSpPr>
        <p:spPr>
          <a:xfrm>
            <a:off x="812800" y="6311900"/>
            <a:ext cx="8890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 ANNIVERSARY EDITION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Agenda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199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TODAY · ALL TIMES LOCAL</a:t>
            </a:r>
          </a:p>
        </p:txBody>
      </p:sp>
      <p:sp>
        <p:nvSpPr>
          <p:cNvPr id="200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01" name="Agenda"/>
          <p:cNvSpPr>
            <a:spLocks noGrp="1"/>
          </p:cNvSpPr>
          <p:nvPr>
            <p:ph type="body" idx="1"/>
          </p:nvPr>
        </p:nvSpPr>
        <p:spPr>
          <a:xfrm>
            <a:off x="812800" y="2095500"/>
            <a:ext cx="10566400" cy="381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25000"/>
              </a:lnSpc>
              <a:spcBef>
                <a:spcPts val="1000"/>
              </a:spcBef>
              <a:buNone/>
              <a:defRPr sz="16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 marL="0" indent="0">
              <a:lnSpc>
                <a:spcPct val="125000"/>
              </a:lnSpc>
              <a:spcBef>
                <a:spcPts val="0"/>
              </a:spcBef>
              <a:buNone/>
              <a:defRPr sz="13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2pPr>
          </a:lstStyle>
          <a:p>
            <a:r>
              <a:rPr lang="en-US" dirty="0"/>
              <a:t>13:00  Welcome &amp; opening</a:t>
            </a:r>
          </a:p>
          <a:p>
            <a:r>
              <a:rPr lang="en-US" dirty="0"/>
              <a:t>13:10  Session title — Speaker</a:t>
            </a:r>
          </a:p>
        </p:txBody>
      </p:sp>
      <p:cxnSp>
        <p:nvCxnSpPr>
          <p:cNvPr id="202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203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882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04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Up Nex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pic>
        <p:nvPicPr>
          <p:cNvPr id="206" name="Headshot glow" descr="Headshot gl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983" y="1477433"/>
            <a:ext cx="3992033" cy="3992033"/>
          </a:xfrm>
          <a:prstGeom prst="rect">
            <a:avLst/>
          </a:prstGeom>
        </p:spPr>
      </p:pic>
      <p:sp>
        <p:nvSpPr>
          <p:cNvPr id="207" name="Headshot (round)"/>
          <p:cNvSpPr>
            <a:spLocks noGrp="1"/>
          </p:cNvSpPr>
          <p:nvPr>
            <p:ph type="pic" idx="24"/>
          </p:nvPr>
        </p:nvSpPr>
        <p:spPr>
          <a:xfrm>
            <a:off x="1079500" y="2012950"/>
            <a:ext cx="2921000" cy="2921000"/>
          </a:xfrm>
          <a:prstGeom prst="ellipse">
            <a:avLst/>
          </a:prstGeom>
          <a:solidFill>
            <a:srgbClr val="1C0930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208" name="Badge"/>
          <p:cNvSpPr>
            <a:spLocks noGrp="1"/>
          </p:cNvSpPr>
          <p:nvPr>
            <p:ph type="body" idx="22" hasCustomPrompt="1"/>
          </p:nvPr>
        </p:nvSpPr>
        <p:spPr>
          <a:xfrm>
            <a:off x="4826000" y="2095500"/>
            <a:ext cx="1333500" cy="317500"/>
          </a:xfrm>
          <a:prstGeom prst="roundRect">
            <a:avLst>
              <a:gd name="adj" fmla="val 50000"/>
            </a:avLst>
          </a:prstGeom>
          <a:solidFill>
            <a:srgbClr val="2707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Up next</a:t>
            </a:r>
          </a:p>
        </p:txBody>
      </p:sp>
      <p:sp>
        <p:nvSpPr>
          <p:cNvPr id="209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62865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592860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210" name="Session title"/>
          <p:cNvSpPr>
            <a:spLocks noGrp="1"/>
          </p:cNvSpPr>
          <p:nvPr>
            <p:ph type="title" hasCustomPrompt="1"/>
          </p:nvPr>
        </p:nvSpPr>
        <p:spPr>
          <a:xfrm>
            <a:off x="4826000" y="2603500"/>
            <a:ext cx="65405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000" b="1" spc="-6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Session title goes here</a:t>
            </a:r>
          </a:p>
        </p:txBody>
      </p:sp>
      <p:pic>
        <p:nvPicPr>
          <p:cNvPr id="211" name="Accent bar" descr="Accent ba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6000" y="4635500"/>
            <a:ext cx="50800" cy="711200"/>
          </a:xfrm>
          <a:prstGeom prst="rect">
            <a:avLst/>
          </a:prstGeom>
        </p:spPr>
      </p:pic>
      <p:sp>
        <p:nvSpPr>
          <p:cNvPr id="212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5054600" y="46228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213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5054600" y="50165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214" name="Start time"/>
          <p:cNvSpPr>
            <a:spLocks noGrp="1"/>
          </p:cNvSpPr>
          <p:nvPr>
            <p:ph type="body" idx="23" hasCustomPrompt="1"/>
          </p:nvPr>
        </p:nvSpPr>
        <p:spPr>
          <a:xfrm>
            <a:off x="4826000" y="558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STARTS 13:40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· Break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216" name="Badge"/>
          <p:cNvSpPr>
            <a:spLocks noGrp="1"/>
          </p:cNvSpPr>
          <p:nvPr>
            <p:ph type="body" idx="22" hasCustomPrompt="1"/>
          </p:nvPr>
        </p:nvSpPr>
        <p:spPr>
          <a:xfrm>
            <a:off x="812800" y="2095500"/>
            <a:ext cx="1651000" cy="317500"/>
          </a:xfrm>
          <a:prstGeom prst="roundRect">
            <a:avLst>
              <a:gd name="adj" fmla="val 50000"/>
            </a:avLst>
          </a:prstGeom>
          <a:solidFill>
            <a:srgbClr val="270730"/>
          </a:solidFill>
          <a:ln w="9525">
            <a:solidFill>
              <a:srgbClr val="461F4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Short break</a:t>
            </a:r>
          </a:p>
        </p:txBody>
      </p:sp>
      <p:sp>
        <p:nvSpPr>
          <p:cNvPr id="217" name="Back at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9525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8000" b="1" spc="-240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Back at 14:30</a:t>
            </a:r>
          </a:p>
        </p:txBody>
      </p:sp>
      <p:sp>
        <p:nvSpPr>
          <p:cNvPr id="218" name="Sub"/>
          <p:cNvSpPr>
            <a:spLocks noGrp="1"/>
          </p:cNvSpPr>
          <p:nvPr>
            <p:ph type="body" idx="1"/>
          </p:nvPr>
        </p:nvSpPr>
        <p:spPr>
          <a:xfrm>
            <a:off x="812800" y="4572000"/>
            <a:ext cx="82550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40000"/>
              </a:lnSpc>
              <a:spcBef>
                <a:spcPts val="0"/>
              </a:spcBef>
              <a:buNone/>
              <a:defRPr sz="1800" b="0">
                <a:solidFill>
                  <a:srgbClr val="BCB9BF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Stretch, refill, and bring your questions.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Talk 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220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8128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3DDF5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10041C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221" name="Level chip"/>
          <p:cNvSpPr>
            <a:spLocks noGrp="1"/>
          </p:cNvSpPr>
          <p:nvPr>
            <p:ph type="body" idx="14" hasCustomPrompt="1"/>
          </p:nvPr>
        </p:nvSpPr>
        <p:spPr>
          <a:xfrm>
            <a:off x="2819400" y="2095500"/>
            <a:ext cx="1524000" cy="317500"/>
          </a:xfrm>
          <a:prstGeom prst="roundRect">
            <a:avLst>
              <a:gd name="adj" fmla="val 50000"/>
            </a:avLst>
          </a:prstGeom>
          <a:solidFill>
            <a:srgbClr val="F3EA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LEVEL</a:t>
            </a:r>
          </a:p>
        </p:txBody>
      </p:sp>
      <p:sp>
        <p:nvSpPr>
          <p:cNvPr id="222" name="Talk title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7493000" cy="209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400" b="1" spc="-8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Your talk title goes here, set tight in Space Grotesk</a:t>
            </a:r>
          </a:p>
        </p:txBody>
      </p:sp>
      <p:pic>
        <p:nvPicPr>
          <p:cNvPr id="223" name="Accent bar" descr="Accent ba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5118100"/>
            <a:ext cx="50800" cy="711200"/>
          </a:xfrm>
          <a:prstGeom prst="rect">
            <a:avLst/>
          </a:prstGeom>
        </p:spPr>
      </p:pic>
      <p:sp>
        <p:nvSpPr>
          <p:cNvPr id="224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5105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 spc="-22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225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1041400" y="54991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pic>
        <p:nvPicPr>
          <p:cNvPr id="226" name="Anniversary lockup" descr="Anniversary locku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5500" y="3810000"/>
            <a:ext cx="2794000" cy="1408661"/>
          </a:xfrm>
          <a:prstGeom prst="rect">
            <a:avLst/>
          </a:prstGeom>
        </p:spPr>
      </p:pic>
      <p:sp>
        <p:nvSpPr>
          <p:cNvPr id="227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  ·  2016 — 2026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Talk Title · Photo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229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8128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3DDF5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10041C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230" name="Level chip"/>
          <p:cNvSpPr>
            <a:spLocks noGrp="1"/>
          </p:cNvSpPr>
          <p:nvPr>
            <p:ph type="body" idx="14" hasCustomPrompt="1"/>
          </p:nvPr>
        </p:nvSpPr>
        <p:spPr>
          <a:xfrm>
            <a:off x="2819400" y="2095500"/>
            <a:ext cx="1524000" cy="317500"/>
          </a:xfrm>
          <a:prstGeom prst="roundRect">
            <a:avLst>
              <a:gd name="adj" fmla="val 50000"/>
            </a:avLst>
          </a:prstGeom>
          <a:solidFill>
            <a:srgbClr val="F3EA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LEVEL</a:t>
            </a:r>
          </a:p>
        </p:txBody>
      </p:sp>
      <p:pic>
        <p:nvPicPr>
          <p:cNvPr id="231" name="Headshot glow" descr="Headshot gl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28417" y="1195917"/>
            <a:ext cx="4339167" cy="4339167"/>
          </a:xfrm>
          <a:prstGeom prst="rect">
            <a:avLst/>
          </a:prstGeom>
        </p:spPr>
      </p:pic>
      <p:sp>
        <p:nvSpPr>
          <p:cNvPr id="232" name="Headshot (round)"/>
          <p:cNvSpPr>
            <a:spLocks noGrp="1"/>
          </p:cNvSpPr>
          <p:nvPr>
            <p:ph type="pic" idx="24"/>
          </p:nvPr>
        </p:nvSpPr>
        <p:spPr>
          <a:xfrm>
            <a:off x="7810500" y="1778000"/>
            <a:ext cx="3175000" cy="3175000"/>
          </a:xfrm>
          <a:prstGeom prst="ellipse">
            <a:avLst/>
          </a:prstGeom>
          <a:solidFill>
            <a:srgbClr val="F3EAF6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233" name="Talk title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6350000" cy="209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000" b="1" spc="-80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Your talk title goes here, set tight in Space Grotesk</a:t>
            </a:r>
          </a:p>
        </p:txBody>
      </p:sp>
      <p:pic>
        <p:nvPicPr>
          <p:cNvPr id="234" name="Accent bar" descr="Accent ba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800" y="5118100"/>
            <a:ext cx="50800" cy="711200"/>
          </a:xfrm>
          <a:prstGeom prst="rect">
            <a:avLst/>
          </a:prstGeom>
        </p:spPr>
      </p:pic>
      <p:sp>
        <p:nvSpPr>
          <p:cNvPr id="235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51054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 spc="-22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236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1041400" y="5499100"/>
            <a:ext cx="5715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237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  ·  2016 — 2026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About M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Headshot glow" descr="Headshot glow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0267" y="1240367"/>
            <a:ext cx="3818467" cy="3818467"/>
          </a:xfrm>
          <a:prstGeom prst="rect">
            <a:avLst/>
          </a:prstGeom>
        </p:spPr>
      </p:pic>
      <p:sp>
        <p:nvSpPr>
          <p:cNvPr id="239" name="Headshot (round)"/>
          <p:cNvSpPr>
            <a:spLocks noGrp="1"/>
          </p:cNvSpPr>
          <p:nvPr>
            <p:ph type="pic" idx="24"/>
          </p:nvPr>
        </p:nvSpPr>
        <p:spPr>
          <a:xfrm>
            <a:off x="952500" y="1752600"/>
            <a:ext cx="2794000" cy="2794000"/>
          </a:xfrm>
          <a:prstGeom prst="ellipse">
            <a:avLst/>
          </a:prstGeom>
          <a:solidFill>
            <a:srgbClr val="F3EAF6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240" name="Kicker"/>
          <p:cNvSpPr>
            <a:spLocks noGrp="1"/>
          </p:cNvSpPr>
          <p:nvPr>
            <p:ph type="body" idx="10" hasCustomPrompt="1"/>
          </p:nvPr>
        </p:nvSpPr>
        <p:spPr>
          <a:xfrm>
            <a:off x="4572000" y="15875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ABOUT ME</a:t>
            </a:r>
          </a:p>
        </p:txBody>
      </p:sp>
      <p:sp>
        <p:nvSpPr>
          <p:cNvPr id="241" name="Name"/>
          <p:cNvSpPr>
            <a:spLocks noGrp="1"/>
          </p:cNvSpPr>
          <p:nvPr>
            <p:ph type="title" hasCustomPrompt="1"/>
          </p:nvPr>
        </p:nvSpPr>
        <p:spPr>
          <a:xfrm>
            <a:off x="4572000" y="1892300"/>
            <a:ext cx="6350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 spc="-54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242" name="Role"/>
          <p:cNvSpPr>
            <a:spLocks noGrp="1"/>
          </p:cNvSpPr>
          <p:nvPr>
            <p:ph type="body" idx="15" hasCustomPrompt="1"/>
          </p:nvPr>
        </p:nvSpPr>
        <p:spPr>
          <a:xfrm>
            <a:off x="4572000" y="26035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600" b="1">
                <a:solidFill>
                  <a:srgbClr val="B31AAB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243" name="Bio"/>
          <p:cNvSpPr>
            <a:spLocks noGrp="1"/>
          </p:cNvSpPr>
          <p:nvPr>
            <p:ph type="body" idx="1"/>
          </p:nvPr>
        </p:nvSpPr>
        <p:spPr>
          <a:xfrm>
            <a:off x="4572000" y="3111500"/>
            <a:ext cx="6350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10041C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Maintainer of …</a:t>
            </a:r>
          </a:p>
          <a:p>
            <a:r>
              <a:rPr lang="en-US" dirty="0"/>
              <a:t>Building …</a:t>
            </a:r>
          </a:p>
          <a:p>
            <a:r>
              <a:rPr lang="en-US" dirty="0"/>
              <a:t>Previously …</a:t>
            </a:r>
          </a:p>
        </p:txBody>
      </p:sp>
      <p:sp>
        <p:nvSpPr>
          <p:cNvPr id="244" name="Handles"/>
          <p:cNvSpPr>
            <a:spLocks noGrp="1"/>
          </p:cNvSpPr>
          <p:nvPr>
            <p:ph type="body" idx="16" hasCustomPrompt="1"/>
          </p:nvPr>
        </p:nvSpPr>
        <p:spPr>
          <a:xfrm>
            <a:off x="4572000" y="520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950" b="0" cap="all" spc="133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GITHUB @HANDLE  ·  LINKEDIN /IN/HANDLE</a:t>
            </a:r>
          </a:p>
        </p:txBody>
      </p:sp>
      <p:cxnSp>
        <p:nvCxnSpPr>
          <p:cNvPr id="245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46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47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Title +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249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SECTION · TOPIC</a:t>
            </a:r>
          </a:p>
        </p:txBody>
      </p:sp>
      <p:sp>
        <p:nvSpPr>
          <p:cNvPr id="250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Slide title in Space Grotesk</a:t>
            </a:r>
          </a:p>
        </p:txBody>
      </p:sp>
      <p:sp>
        <p:nvSpPr>
          <p:cNvPr id="251" name="Content"/>
          <p:cNvSpPr>
            <a:spLocks noGrp="1"/>
          </p:cNvSpPr>
          <p:nvPr>
            <p:ph type="body" idx="1"/>
          </p:nvPr>
        </p:nvSpPr>
        <p:spPr>
          <a:xfrm>
            <a:off x="812800" y="2540000"/>
            <a:ext cx="9906000" cy="3365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10041C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First point, in Inter</a:t>
            </a:r>
          </a:p>
          <a:p>
            <a:r>
              <a:rPr lang="en-US" dirty="0"/>
              <a:t>Second point</a:t>
            </a:r>
          </a:p>
          <a:p>
            <a:r>
              <a:rPr lang="en-US" dirty="0"/>
              <a:t>Supporting detail</a:t>
            </a:r>
          </a:p>
        </p:txBody>
      </p:sp>
      <p:cxnSp>
        <p:nvCxnSpPr>
          <p:cNvPr id="252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53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54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Two Column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256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SECTION · TOPIC</a:t>
            </a:r>
          </a:p>
        </p:txBody>
      </p:sp>
      <p:sp>
        <p:nvSpPr>
          <p:cNvPr id="257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Compare two ideas side by side</a:t>
            </a:r>
          </a:p>
        </p:txBody>
      </p:sp>
      <p:sp>
        <p:nvSpPr>
          <p:cNvPr id="258" name="Column 1 label"/>
          <p:cNvSpPr>
            <a:spLocks noGrp="1"/>
          </p:cNvSpPr>
          <p:nvPr>
            <p:ph type="body" idx="18" hasCustomPrompt="1"/>
          </p:nvPr>
        </p:nvSpPr>
        <p:spPr>
          <a:xfrm>
            <a:off x="812800" y="2540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BEFORE</a:t>
            </a:r>
          </a:p>
        </p:txBody>
      </p:sp>
      <p:cxnSp>
        <p:nvCxnSpPr>
          <p:cNvPr id="259" name="Column 1 rule"/>
          <p:cNvCxnSpPr/>
          <p:nvPr userDrawn="1"/>
        </p:nvCxnSpPr>
        <p:spPr>
          <a:xfrm>
            <a:off x="812800" y="2870200"/>
            <a:ext cx="48260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60" name="Column 1"/>
          <p:cNvSpPr>
            <a:spLocks noGrp="1"/>
          </p:cNvSpPr>
          <p:nvPr>
            <p:ph type="body" idx="1"/>
          </p:nvPr>
        </p:nvSpPr>
        <p:spPr>
          <a:xfrm>
            <a:off x="812800" y="3022600"/>
            <a:ext cx="4826000" cy="292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10041C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</p:txBody>
      </p:sp>
      <p:sp>
        <p:nvSpPr>
          <p:cNvPr id="261" name="Column 2 label"/>
          <p:cNvSpPr>
            <a:spLocks noGrp="1"/>
          </p:cNvSpPr>
          <p:nvPr>
            <p:ph type="body" idx="19" hasCustomPrompt="1"/>
          </p:nvPr>
        </p:nvSpPr>
        <p:spPr>
          <a:xfrm>
            <a:off x="6197600" y="2540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AFTER</a:t>
            </a:r>
          </a:p>
        </p:txBody>
      </p:sp>
      <p:cxnSp>
        <p:nvCxnSpPr>
          <p:cNvPr id="262" name="Column 2 rule"/>
          <p:cNvCxnSpPr/>
          <p:nvPr userDrawn="1"/>
        </p:nvCxnSpPr>
        <p:spPr>
          <a:xfrm>
            <a:off x="6197600" y="2870200"/>
            <a:ext cx="48260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63" name="Column 2"/>
          <p:cNvSpPr>
            <a:spLocks noGrp="1"/>
          </p:cNvSpPr>
          <p:nvPr>
            <p:ph type="body" idx="2"/>
          </p:nvPr>
        </p:nvSpPr>
        <p:spPr>
          <a:xfrm>
            <a:off x="6197600" y="3022600"/>
            <a:ext cx="4826000" cy="292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215900" indent="-215900">
              <a:lnSpc>
                <a:spcPct val="130000"/>
              </a:lnSpc>
              <a:spcBef>
                <a:spcPts val="1200"/>
              </a:spcBef>
              <a:buClr>
                <a:srgbClr val="D163CE"/>
              </a:buClr>
              <a:buSzPct val="100000"/>
              <a:buFont typeface="Inter"/>
              <a:buChar char="•"/>
              <a:defRPr sz="1800" b="0">
                <a:solidFill>
                  <a:srgbClr val="10041C"/>
                </a:solidFill>
                <a:latin typeface="Inter"/>
                <a:ea typeface="Inter"/>
                <a:cs typeface="Inter"/>
              </a:defRPr>
            </a:lvl1pPr>
            <a:lvl2pPr algn="l" marL="469900" indent="-215900">
              <a:lnSpc>
                <a:spcPct val="130000"/>
              </a:lnSpc>
              <a:spcBef>
                <a:spcPts val="600"/>
              </a:spcBef>
              <a:buClr>
                <a:srgbClr val="D163CE"/>
              </a:buClr>
              <a:buSzPct val="100000"/>
              <a:buFont typeface="Inter"/>
              <a:buChar char="—"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2pPr>
            <a:lvl3pPr algn="l" marL="723900" indent="-215900">
              <a:lnSpc>
                <a:spcPct val="130000"/>
              </a:lnSpc>
              <a:spcBef>
                <a:spcPts val="400"/>
              </a:spcBef>
              <a:buClr>
                <a:srgbClr val="D163CE"/>
              </a:buClr>
              <a:buSzPct val="100000"/>
              <a:buFont typeface="Inter"/>
              <a:buChar char="—"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3pPr>
          </a:lstStyle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  <a:p>
            <a:r>
              <a:rPr lang="en-US" dirty="0"/>
              <a:t>Point</a:t>
            </a:r>
          </a:p>
        </p:txBody>
      </p:sp>
      <p:cxnSp>
        <p:nvCxnSpPr>
          <p:cNvPr id="264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65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66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Co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268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CONFIG</a:t>
            </a:r>
          </a:p>
        </p:txBody>
      </p:sp>
      <p:sp>
        <p:nvSpPr>
          <p:cNvPr id="269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Show the config that does the work</a:t>
            </a:r>
          </a:p>
        </p:txBody>
      </p:sp>
      <p:sp>
        <p:nvSpPr>
          <p:cNvPr id="270" name="Code panel"/>
          <p:cNvSpPr/>
          <p:nvPr userDrawn="1"/>
        </p:nvSpPr>
        <p:spPr>
          <a:xfrm>
            <a:off x="812800" y="2095500"/>
            <a:ext cx="10566400" cy="3810000"/>
          </a:xfrm>
          <a:prstGeom prst="roundRect">
            <a:avLst>
              <a:gd name="adj" fmla="val 3200"/>
            </a:avLst>
          </a:prstGeom>
          <a:solidFill>
            <a:srgbClr val="1C0930"/>
          </a:solidFill>
          <a:ln w="9525">
            <a:solidFill>
              <a:srgbClr val="2A12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1" name="Window dot"/>
          <p:cNvSpPr/>
          <p:nvPr userDrawn="1"/>
        </p:nvSpPr>
        <p:spPr>
          <a:xfrm>
            <a:off x="1016000" y="2286000"/>
            <a:ext cx="88900" cy="88900"/>
          </a:xfrm>
          <a:prstGeom prst="ellipse">
            <a:avLst/>
          </a:prstGeom>
          <a:solidFill>
            <a:srgbClr val="D163C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2" name="Window dot"/>
          <p:cNvSpPr/>
          <p:nvPr userDrawn="1"/>
        </p:nvSpPr>
        <p:spPr>
          <a:xfrm>
            <a:off x="1206500" y="2286000"/>
            <a:ext cx="88900" cy="88900"/>
          </a:xfrm>
          <a:prstGeom prst="ellipse">
            <a:avLst/>
          </a:prstGeom>
          <a:solidFill>
            <a:srgbClr val="EBA6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3" name="Window dot"/>
          <p:cNvSpPr/>
          <p:nvPr userDrawn="1"/>
        </p:nvSpPr>
        <p:spPr>
          <a:xfrm>
            <a:off x="1397000" y="2286000"/>
            <a:ext cx="88900" cy="88900"/>
          </a:xfrm>
          <a:prstGeom prst="ellipse">
            <a:avLst/>
          </a:prstGeom>
          <a:solidFill>
            <a:srgbClr val="8882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4" name="Code label"/>
          <p:cNvSpPr>
            <a:spLocks noGrp="1"/>
          </p:cNvSpPr>
          <p:nvPr>
            <p:ph type="body" idx="20" hasCustomPrompt="1"/>
          </p:nvPr>
        </p:nvSpPr>
        <p:spPr>
          <a:xfrm>
            <a:off x="8839200" y="2235200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850" b="1" cap="all" spc="119">
                <a:solidFill>
                  <a:srgbClr val="88828D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YAML</a:t>
            </a:r>
          </a:p>
        </p:txBody>
      </p:sp>
      <p:sp>
        <p:nvSpPr>
          <p:cNvPr id="275" name="Code"/>
          <p:cNvSpPr>
            <a:spLocks noGrp="1"/>
          </p:cNvSpPr>
          <p:nvPr>
            <p:ph type="body" idx="1"/>
          </p:nvPr>
        </p:nvSpPr>
        <p:spPr>
          <a:xfrm>
            <a:off x="1066800" y="2603500"/>
            <a:ext cx="10058400" cy="317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35000"/>
              </a:lnSpc>
              <a:spcBef>
                <a:spcPts val="0"/>
              </a:spcBef>
              <a:buNone/>
              <a:defRPr sz="1300" b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  <a:lvl2pPr algn="l" marL="0" indent="0">
              <a:lnSpc>
                <a:spcPct val="135000"/>
              </a:lnSpc>
              <a:spcBef>
                <a:spcPts val="0"/>
              </a:spcBef>
              <a:buNone/>
              <a:defRPr sz="1300" b="0">
                <a:solidFill>
                  <a:srgbClr val="EBA6E8"/>
                </a:solidFill>
                <a:latin typeface="JetBrains Mono"/>
                <a:ea typeface="JetBrains Mono"/>
                <a:cs typeface="JetBrains Mono"/>
              </a:defRPr>
            </a:lvl2pPr>
          </a:lstStyle>
          <a:p>
            <a:r>
              <a:rPr lang="en-US" dirty="0"/>
              <a:t>apiVersion: gateway.networking.k8s.io/v1</a:t>
            </a:r>
          </a:p>
          <a:p>
            <a:r>
              <a:rPr lang="en-US" dirty="0"/>
              <a:t>kind: HTTPRoute</a:t>
            </a:r>
          </a:p>
          <a:p>
            <a:r>
              <a:rPr lang="en-US" dirty="0"/>
              <a:t>metadata:</a:t>
            </a:r>
          </a:p>
          <a:p>
            <a:r>
              <a:rPr lang="en-US" dirty="0"/>
              <a:t>  name: backend</a:t>
            </a:r>
          </a:p>
        </p:txBody>
      </p:sp>
      <p:cxnSp>
        <p:nvCxnSpPr>
          <p:cNvPr id="276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77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78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Diagra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280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ARCHITECTURE</a:t>
            </a:r>
          </a:p>
        </p:txBody>
      </p:sp>
      <p:sp>
        <p:nvSpPr>
          <p:cNvPr id="281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One diagram, one idea</a:t>
            </a:r>
          </a:p>
        </p:txBody>
      </p:sp>
      <p:sp>
        <p:nvSpPr>
          <p:cNvPr id="282" name="Diagram"/>
          <p:cNvSpPr>
            <a:spLocks noGrp="1"/>
          </p:cNvSpPr>
          <p:nvPr>
            <p:ph type="pic" idx="21"/>
          </p:nvPr>
        </p:nvSpPr>
        <p:spPr>
          <a:xfrm>
            <a:off x="812800" y="2095500"/>
            <a:ext cx="10566400" cy="3810000"/>
          </a:xfrm>
          <a:prstGeom prst="rect">
            <a:avLst/>
          </a:prstGeom>
          <a:solidFill>
            <a:srgbClr val="F3EAF6"/>
          </a:solidFill>
          <a:ln w="9525">
            <a:solidFill>
              <a:srgbClr val="E9C1E9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cxnSp>
        <p:nvCxnSpPr>
          <p:cNvPr id="283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84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85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Big Numb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525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BY THE NUMBERS</a:t>
            </a:r>
          </a:p>
        </p:txBody>
      </p:sp>
      <p:sp>
        <p:nvSpPr>
          <p:cNvPr id="287" name="What the number means"/>
          <p:cNvSpPr>
            <a:spLocks noGrp="1"/>
          </p:cNvSpPr>
          <p:nvPr>
            <p:ph type="title" hasCustomPrompt="1"/>
          </p:nvPr>
        </p:nvSpPr>
        <p:spPr>
          <a:xfrm>
            <a:off x="812800" y="4127500"/>
            <a:ext cx="8255000" cy="88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What the number means</a:t>
            </a:r>
          </a:p>
        </p:txBody>
      </p:sp>
      <p:sp>
        <p:nvSpPr>
          <p:cNvPr id="288" name="Context"/>
          <p:cNvSpPr>
            <a:spLocks noGrp="1"/>
          </p:cNvSpPr>
          <p:nvPr>
            <p:ph type="body" idx="1"/>
          </p:nvPr>
        </p:nvSpPr>
        <p:spPr>
          <a:xfrm>
            <a:off x="812800" y="5080000"/>
            <a:ext cx="82550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35000"/>
              </a:lnSpc>
              <a:spcBef>
                <a:spcPts val="0"/>
              </a:spcBef>
              <a:buNone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One line of context or the source.</a:t>
            </a:r>
          </a:p>
        </p:txBody>
      </p:sp>
      <p:cxnSp>
        <p:nvCxnSpPr>
          <p:cNvPr id="289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90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91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Statem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14605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THE TAKEAWAY</a:t>
            </a:r>
          </a:p>
        </p:txBody>
      </p:sp>
      <p:sp>
        <p:nvSpPr>
          <p:cNvPr id="293" name="Statement"/>
          <p:cNvSpPr>
            <a:spLocks noGrp="1"/>
          </p:cNvSpPr>
          <p:nvPr>
            <p:ph type="title" hasCustomPrompt="1"/>
          </p:nvPr>
        </p:nvSpPr>
        <p:spPr>
          <a:xfrm>
            <a:off x="812800" y="1841500"/>
            <a:ext cx="9525000" cy="2667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02000"/>
              </a:lnSpc>
              <a:spcBef>
                <a:spcPts val="0"/>
              </a:spcBef>
              <a:buNone/>
              <a:defRPr sz="4600" b="1" spc="-92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One sentence the audience should remember after the talk.</a:t>
            </a:r>
          </a:p>
        </p:txBody>
      </p:sp>
      <p:pic>
        <p:nvPicPr>
          <p:cNvPr id="294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4826000"/>
            <a:ext cx="50800" cy="635000"/>
          </a:xfrm>
          <a:prstGeom prst="rect">
            <a:avLst/>
          </a:prstGeom>
        </p:spPr>
      </p:pic>
      <p:sp>
        <p:nvSpPr>
          <p:cNvPr id="295" name="Attribution"/>
          <p:cNvSpPr>
            <a:spLocks noGrp="1"/>
          </p:cNvSpPr>
          <p:nvPr>
            <p:ph type="body" idx="15" hasCustomPrompt="1"/>
          </p:nvPr>
        </p:nvSpPr>
        <p:spPr>
          <a:xfrm>
            <a:off x="1041400" y="4826000"/>
            <a:ext cx="762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800" b="1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296" name="Attribution detail"/>
          <p:cNvSpPr>
            <a:spLocks noGrp="1"/>
          </p:cNvSpPr>
          <p:nvPr>
            <p:ph type="body" idx="16" hasCustomPrompt="1"/>
          </p:nvPr>
        </p:nvSpPr>
        <p:spPr>
          <a:xfrm>
            <a:off x="1041400" y="5156200"/>
            <a:ext cx="7620000" cy="2921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3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cxnSp>
        <p:nvCxnSpPr>
          <p:cNvPr id="297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298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299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Thank You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301" name="Badge"/>
          <p:cNvSpPr>
            <a:spLocks noGrp="1"/>
          </p:cNvSpPr>
          <p:nvPr>
            <p:ph type="body" idx="22" hasCustomPrompt="1"/>
          </p:nvPr>
        </p:nvSpPr>
        <p:spPr>
          <a:xfrm>
            <a:off x="812800" y="1905000"/>
            <a:ext cx="1270000" cy="317500"/>
          </a:xfrm>
          <a:prstGeom prst="roundRect">
            <a:avLst>
              <a:gd name="adj" fmla="val 50000"/>
            </a:avLst>
          </a:prstGeom>
          <a:solidFill>
            <a:srgbClr val="F5E6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Q &amp; A</a:t>
            </a:r>
          </a:p>
        </p:txBody>
      </p:sp>
      <p:sp>
        <p:nvSpPr>
          <p:cNvPr id="302" name="Thank you"/>
          <p:cNvSpPr>
            <a:spLocks noGrp="1"/>
          </p:cNvSpPr>
          <p:nvPr>
            <p:ph type="title" hasCustomPrompt="1"/>
          </p:nvPr>
        </p:nvSpPr>
        <p:spPr>
          <a:xfrm>
            <a:off x="812800" y="2413000"/>
            <a:ext cx="8255000" cy="16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7200" b="1" spc="-216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303" name="Accent bar" descr="Accent ba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4318000"/>
            <a:ext cx="50800" cy="711200"/>
          </a:xfrm>
          <a:prstGeom prst="rect">
            <a:avLst/>
          </a:prstGeom>
        </p:spPr>
      </p:pic>
      <p:sp>
        <p:nvSpPr>
          <p:cNvPr id="304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1041400" y="43053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305" name="Handles"/>
          <p:cNvSpPr>
            <a:spLocks noGrp="1"/>
          </p:cNvSpPr>
          <p:nvPr>
            <p:ph type="body" idx="16" hasCustomPrompt="1"/>
          </p:nvPr>
        </p:nvSpPr>
        <p:spPr>
          <a:xfrm>
            <a:off x="1041400" y="4724400"/>
            <a:ext cx="6985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 cap="all" spc="140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GITHUB @HANDLE  ·  LINKEDIN /IN/HANDLE</a:t>
            </a:r>
          </a:p>
        </p:txBody>
      </p:sp>
      <p:pic>
        <p:nvPicPr>
          <p:cNvPr id="306" name="Anniversary lockup" descr="Anniversary locku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5500" y="3810000"/>
            <a:ext cx="2794000" cy="14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Event Welcom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308" name="Badge"/>
          <p:cNvSpPr>
            <a:spLocks noGrp="1"/>
          </p:cNvSpPr>
          <p:nvPr>
            <p:ph type="body" idx="22" hasCustomPrompt="1"/>
          </p:nvPr>
        </p:nvSpPr>
        <p:spPr>
          <a:xfrm>
            <a:off x="8255000" y="635000"/>
            <a:ext cx="3111500" cy="317500"/>
          </a:xfrm>
          <a:prstGeom prst="roundRect">
            <a:avLst>
              <a:gd name="adj" fmla="val 50000"/>
            </a:avLst>
          </a:prstGeom>
          <a:solidFill>
            <a:srgbClr val="F5E6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10 Year Anniversary Edition</a:t>
            </a:r>
          </a:p>
        </p:txBody>
      </p:sp>
      <p:pic>
        <p:nvPicPr>
          <p:cNvPr id="309" name="Anniversary lockup" descr="Anniversary lockup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12800" y="1905000"/>
            <a:ext cx="5207000" cy="2625232"/>
          </a:xfrm>
          <a:prstGeom prst="rect">
            <a:avLst/>
          </a:prstGeom>
        </p:spPr>
      </p:pic>
      <p:sp>
        <p:nvSpPr>
          <p:cNvPr id="310" name="Welcome line"/>
          <p:cNvSpPr>
            <a:spLocks noGrp="1"/>
          </p:cNvSpPr>
          <p:nvPr>
            <p:ph type="title" hasCustomPrompt="1"/>
          </p:nvPr>
        </p:nvSpPr>
        <p:spPr>
          <a:xfrm>
            <a:off x="6413500" y="22860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400" b="1" spc="-8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Welcome to EnvoyCon</a:t>
            </a:r>
          </a:p>
        </p:txBody>
      </p:sp>
      <p:sp>
        <p:nvSpPr>
          <p:cNvPr id="311" name="Sub"/>
          <p:cNvSpPr>
            <a:spLocks noGrp="1"/>
          </p:cNvSpPr>
          <p:nvPr>
            <p:ph type="body" idx="1"/>
          </p:nvPr>
        </p:nvSpPr>
        <p:spPr>
          <a:xfrm>
            <a:off x="6413500" y="43180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40000"/>
              </a:lnSpc>
              <a:spcBef>
                <a:spcPts val="0"/>
              </a:spcBef>
              <a:buNone/>
              <a:defRPr sz="16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A decade of the proxy that runs the cloud-native world.</a:t>
            </a:r>
          </a:p>
        </p:txBody>
      </p:sp>
      <p:sp>
        <p:nvSpPr>
          <p:cNvPr id="312" name="Footer meta"/>
          <p:cNvSpPr txBox="1"/>
          <p:nvPr userDrawn="1"/>
        </p:nvSpPr>
        <p:spPr>
          <a:xfrm>
            <a:off x="812800" y="6311900"/>
            <a:ext cx="8890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 ANNIVERSARY EDITION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Agenda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Accent bar" descr="Accent ba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749300"/>
            <a:ext cx="609600" cy="40640"/>
          </a:xfrm>
          <a:prstGeom prst="rect">
            <a:avLst/>
          </a:prstGeom>
        </p:spPr>
      </p:pic>
      <p:sp>
        <p:nvSpPr>
          <p:cNvPr id="314" name="Kicker"/>
          <p:cNvSpPr>
            <a:spLocks noGrp="1"/>
          </p:cNvSpPr>
          <p:nvPr>
            <p:ph type="body" idx="10" hasCustomPrompt="1"/>
          </p:nvPr>
        </p:nvSpPr>
        <p:spPr>
          <a:xfrm>
            <a:off x="812800" y="939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100" b="1" cap="all" spc="242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TODAY · ALL TIMES LOCAL</a:t>
            </a:r>
          </a:p>
        </p:txBody>
      </p:sp>
      <p:sp>
        <p:nvSpPr>
          <p:cNvPr id="315" name="Title"/>
          <p:cNvSpPr>
            <a:spLocks noGrp="1"/>
          </p:cNvSpPr>
          <p:nvPr>
            <p:ph type="title" hasCustomPrompt="1"/>
          </p:nvPr>
        </p:nvSpPr>
        <p:spPr>
          <a:xfrm>
            <a:off x="812800" y="1244600"/>
            <a:ext cx="9144000" cy="698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3200" b="1" spc="-48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16" name="Agenda"/>
          <p:cNvSpPr>
            <a:spLocks noGrp="1"/>
          </p:cNvSpPr>
          <p:nvPr>
            <p:ph type="body" idx="1"/>
          </p:nvPr>
        </p:nvSpPr>
        <p:spPr>
          <a:xfrm>
            <a:off x="812800" y="2095500"/>
            <a:ext cx="10566400" cy="381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25000"/>
              </a:lnSpc>
              <a:spcBef>
                <a:spcPts val="1000"/>
              </a:spcBef>
              <a:buNone/>
              <a:defRPr sz="1600" b="0">
                <a:solidFill>
                  <a:srgbClr val="10041C"/>
                </a:solidFill>
                <a:latin typeface="Inter"/>
                <a:ea typeface="Inter"/>
                <a:cs typeface="Inter"/>
              </a:defRPr>
            </a:lvl1pPr>
            <a:lvl2pPr algn="l" marL="0" indent="0">
              <a:lnSpc>
                <a:spcPct val="125000"/>
              </a:lnSpc>
              <a:spcBef>
                <a:spcPts val="0"/>
              </a:spcBef>
              <a:buNone/>
              <a:defRPr sz="13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2pPr>
          </a:lstStyle>
          <a:p>
            <a:r>
              <a:rPr lang="en-US" dirty="0"/>
              <a:t>13:00  Welcome &amp; opening</a:t>
            </a:r>
          </a:p>
          <a:p>
            <a:r>
              <a:rPr lang="en-US" dirty="0"/>
              <a:t>13:10  Session title — Speaker</a:t>
            </a:r>
          </a:p>
        </p:txBody>
      </p:sp>
      <p:cxnSp>
        <p:nvCxnSpPr>
          <p:cNvPr id="317" name="Footer rule"/>
          <p:cNvCxnSpPr/>
          <p:nvPr userDrawn="1"/>
        </p:nvCxnSpPr>
        <p:spPr>
          <a:xfrm>
            <a:off x="812800" y="6146800"/>
            <a:ext cx="10566400" cy="0"/>
          </a:xfrm>
          <a:prstGeom prst="line">
            <a:avLst/>
          </a:prstGeom>
          <a:ln w="9525">
            <a:solidFill>
              <a:srgbClr val="E9C1E9"/>
            </a:solidFill>
          </a:ln>
        </p:spPr>
      </p:cxnSp>
      <p:sp>
        <p:nvSpPr>
          <p:cNvPr id="318" name="Footer meta"/>
          <p:cNvSpPr txBox="1"/>
          <p:nvPr userDrawn="1"/>
        </p:nvSpPr>
        <p:spPr>
          <a:xfrm>
            <a:off x="812800" y="6311900"/>
            <a:ext cx="698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ENVOYCON</a:t>
            </a:r>
            <a:r>
              <a:rPr lang="en-US" sz="900" b="0" spc="0">
                <a:solidFill>
                  <a:srgbClr val="867E8D"/>
                </a:solidFill>
                <a:latin typeface="JetBrains Mono"/>
                <a:ea typeface="JetBrains Mono"/>
                <a:cs typeface="JetBrains Mono"/>
              </a:rPr>
              <a:t>  ·  </a:t>
            </a:r>
            <a:r>
              <a:rPr lang="en-US" sz="900" b="0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rPr>
              <a:t>10 YEARS OF ENVOY</a:t>
            </a:r>
          </a:p>
        </p:txBody>
      </p:sp>
      <p:sp>
        <p:nvSpPr>
          <p:cNvPr id="319" name="Slide number"/>
          <p:cNvSpPr>
            <a:spLocks noGrp="1"/>
          </p:cNvSpPr>
          <p:nvPr>
            <p:ph type="sldNum" idx="12"/>
          </p:nvPr>
        </p:nvSpPr>
        <p:spPr>
          <a:xfrm>
            <a:off x="10109200" y="6286500"/>
            <a:ext cx="1270000" cy="2159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r" marL="0" indent="0">
              <a:spcBef>
                <a:spcPts val="0"/>
              </a:spcBef>
              <a:buNone/>
              <a:defRPr sz="900" b="1" spc="126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Up Nex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pic>
        <p:nvPicPr>
          <p:cNvPr id="321" name="Headshot glow" descr="Headshot gl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983" y="1477433"/>
            <a:ext cx="3992033" cy="3992033"/>
          </a:xfrm>
          <a:prstGeom prst="rect">
            <a:avLst/>
          </a:prstGeom>
        </p:spPr>
      </p:pic>
      <p:sp>
        <p:nvSpPr>
          <p:cNvPr id="322" name="Headshot (round)"/>
          <p:cNvSpPr>
            <a:spLocks noGrp="1"/>
          </p:cNvSpPr>
          <p:nvPr>
            <p:ph type="pic" idx="24"/>
          </p:nvPr>
        </p:nvSpPr>
        <p:spPr>
          <a:xfrm>
            <a:off x="1079500" y="2012950"/>
            <a:ext cx="2921000" cy="2921000"/>
          </a:xfrm>
          <a:prstGeom prst="ellipse">
            <a:avLst/>
          </a:prstGeom>
          <a:solidFill>
            <a:srgbClr val="F3EAF6"/>
          </a:solidFill>
          <a:ln w="50800">
            <a:solidFill>
              <a:srgbClr val="D163CE"/>
            </a:solidFill>
          </a:ln>
        </p:spPr>
        <p:txBody>
          <a:bodyPr vert="horz" wrap="square" lIns="0" tIns="0" rIns="0" bIns="0" anchor="ctr" rtlCol="0">
            <a:noAutofit/>
          </a:bodyPr>
          <a:lstStyle/>
          <a:p>
            <a:endParaRPr lang="en-US"/>
          </a:p>
        </p:txBody>
      </p:sp>
      <p:sp>
        <p:nvSpPr>
          <p:cNvPr id="323" name="Badge"/>
          <p:cNvSpPr>
            <a:spLocks noGrp="1"/>
          </p:cNvSpPr>
          <p:nvPr>
            <p:ph type="body" idx="22" hasCustomPrompt="1"/>
          </p:nvPr>
        </p:nvSpPr>
        <p:spPr>
          <a:xfrm>
            <a:off x="4826000" y="2095500"/>
            <a:ext cx="1333500" cy="317500"/>
          </a:xfrm>
          <a:prstGeom prst="roundRect">
            <a:avLst>
              <a:gd name="adj" fmla="val 50000"/>
            </a:avLst>
          </a:prstGeom>
          <a:solidFill>
            <a:srgbClr val="F5E6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Up next</a:t>
            </a:r>
          </a:p>
        </p:txBody>
      </p:sp>
      <p:sp>
        <p:nvSpPr>
          <p:cNvPr id="324" name="Track chip"/>
          <p:cNvSpPr>
            <a:spLocks noGrp="1"/>
          </p:cNvSpPr>
          <p:nvPr>
            <p:ph type="body" idx="13" hasCustomPrompt="1"/>
          </p:nvPr>
        </p:nvSpPr>
        <p:spPr>
          <a:xfrm>
            <a:off x="6286500" y="2095500"/>
            <a:ext cx="1905000" cy="317500"/>
          </a:xfrm>
          <a:prstGeom prst="roundRect">
            <a:avLst>
              <a:gd name="adj" fmla="val 50000"/>
            </a:avLst>
          </a:prstGeom>
          <a:solidFill>
            <a:srgbClr val="F3DDF5"/>
          </a:solidFill>
          <a:ln w="9525">
            <a:solidFill>
              <a:srgbClr val="D163CE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10041C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TRACK</a:t>
            </a:r>
          </a:p>
        </p:txBody>
      </p:sp>
      <p:sp>
        <p:nvSpPr>
          <p:cNvPr id="325" name="Session title"/>
          <p:cNvSpPr>
            <a:spLocks noGrp="1"/>
          </p:cNvSpPr>
          <p:nvPr>
            <p:ph type="title" hasCustomPrompt="1"/>
          </p:nvPr>
        </p:nvSpPr>
        <p:spPr>
          <a:xfrm>
            <a:off x="4826000" y="2603500"/>
            <a:ext cx="65405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8000"/>
              </a:lnSpc>
              <a:spcBef>
                <a:spcPts val="0"/>
              </a:spcBef>
              <a:buNone/>
              <a:defRPr sz="4000" b="1" spc="-60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Session title goes here</a:t>
            </a:r>
          </a:p>
        </p:txBody>
      </p:sp>
      <p:pic>
        <p:nvPicPr>
          <p:cNvPr id="326" name="Accent bar" descr="Accent bar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6000" y="4635500"/>
            <a:ext cx="50800" cy="711200"/>
          </a:xfrm>
          <a:prstGeom prst="rect">
            <a:avLst/>
          </a:prstGeom>
        </p:spPr>
      </p:pic>
      <p:sp>
        <p:nvSpPr>
          <p:cNvPr id="327" name="Speaker name"/>
          <p:cNvSpPr>
            <a:spLocks noGrp="1"/>
          </p:cNvSpPr>
          <p:nvPr>
            <p:ph type="body" idx="15" hasCustomPrompt="1"/>
          </p:nvPr>
        </p:nvSpPr>
        <p:spPr>
          <a:xfrm>
            <a:off x="5054600" y="46228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328" name="Speaker role"/>
          <p:cNvSpPr>
            <a:spLocks noGrp="1"/>
          </p:cNvSpPr>
          <p:nvPr>
            <p:ph type="body" idx="16" hasCustomPrompt="1"/>
          </p:nvPr>
        </p:nvSpPr>
        <p:spPr>
          <a:xfrm>
            <a:off x="5054600" y="5016500"/>
            <a:ext cx="6350000" cy="3175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4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Role · Company</a:t>
            </a:r>
          </a:p>
        </p:txBody>
      </p:sp>
      <p:sp>
        <p:nvSpPr>
          <p:cNvPr id="329" name="Start time"/>
          <p:cNvSpPr>
            <a:spLocks noGrp="1"/>
          </p:cNvSpPr>
          <p:nvPr>
            <p:ph type="body" idx="23" hasCustomPrompt="1"/>
          </p:nvPr>
        </p:nvSpPr>
        <p:spPr>
          <a:xfrm>
            <a:off x="4826000" y="5588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Autofit/>
          </a:bodyPr>
          <a:lstStyle>
            <a:lvl1pPr algn="l" marL="0" indent="0">
              <a:spcBef>
                <a:spcPts val="0"/>
              </a:spcBef>
              <a:buNone/>
              <a:defRPr sz="1000" b="1" cap="all" spc="140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STARTS 13:40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· Break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EnvoyCon 10 Years lockup" descr="EnvoyCon 10 Years lock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" y="584200"/>
            <a:ext cx="2600569" cy="419100"/>
          </a:xfrm>
          <a:prstGeom prst="rect">
            <a:avLst/>
          </a:prstGeom>
        </p:spPr>
      </p:pic>
      <p:sp>
        <p:nvSpPr>
          <p:cNvPr id="331" name="Badge"/>
          <p:cNvSpPr>
            <a:spLocks noGrp="1"/>
          </p:cNvSpPr>
          <p:nvPr>
            <p:ph type="body" idx="22" hasCustomPrompt="1"/>
          </p:nvPr>
        </p:nvSpPr>
        <p:spPr>
          <a:xfrm>
            <a:off x="812800" y="2095500"/>
            <a:ext cx="1651000" cy="317500"/>
          </a:xfrm>
          <a:prstGeom prst="roundRect">
            <a:avLst>
              <a:gd name="adj" fmla="val 50000"/>
            </a:avLst>
          </a:prstGeom>
          <a:solidFill>
            <a:srgbClr val="F5E6F6"/>
          </a:solidFill>
          <a:ln w="9525">
            <a:solidFill>
              <a:srgbClr val="E9C1E9"/>
            </a:solidFill>
          </a:ln>
        </p:spPr>
        <p:txBody>
          <a:bodyPr vert="horz" wrap="square" lIns="101600" tIns="12700" rIns="101600" bIns="0" anchor="ctr" rtlCol="0">
            <a:noAutofit/>
          </a:bodyPr>
          <a:lstStyle>
            <a:lvl1pPr algn="ctr" marL="0" indent="0">
              <a:spcBef>
                <a:spcPts val="0"/>
              </a:spcBef>
              <a:buNone/>
              <a:defRPr sz="850" b="1" cap="all" spc="119">
                <a:solidFill>
                  <a:srgbClr val="B31AA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r>
              <a:rPr lang="en-US" dirty="0"/>
              <a:t>Short break</a:t>
            </a:r>
          </a:p>
        </p:txBody>
      </p:sp>
      <p:sp>
        <p:nvSpPr>
          <p:cNvPr id="332" name="Back at"/>
          <p:cNvSpPr>
            <a:spLocks noGrp="1"/>
          </p:cNvSpPr>
          <p:nvPr>
            <p:ph type="title" hasCustomPrompt="1"/>
          </p:nvPr>
        </p:nvSpPr>
        <p:spPr>
          <a:xfrm>
            <a:off x="812800" y="2603500"/>
            <a:ext cx="9525000" cy="190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95000"/>
              </a:lnSpc>
              <a:spcBef>
                <a:spcPts val="0"/>
              </a:spcBef>
              <a:buNone/>
              <a:defRPr sz="8000" b="1" spc="-240">
                <a:solidFill>
                  <a:srgbClr val="10041C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 dirty="0"/>
              <a:t>Back at 14:30</a:t>
            </a:r>
          </a:p>
        </p:txBody>
      </p:sp>
      <p:sp>
        <p:nvSpPr>
          <p:cNvPr id="333" name="Sub"/>
          <p:cNvSpPr>
            <a:spLocks noGrp="1"/>
          </p:cNvSpPr>
          <p:nvPr>
            <p:ph type="body" idx="1"/>
          </p:nvPr>
        </p:nvSpPr>
        <p:spPr>
          <a:xfrm>
            <a:off x="812800" y="4572000"/>
            <a:ext cx="8255000" cy="76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rtlCol="0">
            <a:normAutofit/>
          </a:bodyPr>
          <a:lstStyle>
            <a:lvl1pPr algn="l" marL="0" indent="0">
              <a:lnSpc>
                <a:spcPct val="140000"/>
              </a:lnSpc>
              <a:spcBef>
                <a:spcPts val="0"/>
              </a:spcBef>
              <a:buNone/>
              <a:defRPr sz="1800" b="0">
                <a:solidFill>
                  <a:srgbClr val="524859"/>
                </a:solidFill>
                <a:latin typeface="Inter"/>
                <a:ea typeface="Inter"/>
                <a:cs typeface="Inter"/>
              </a:defRPr>
            </a:lvl1pPr>
          </a:lstStyle>
          <a:p>
            <a:r>
              <a:rPr lang="en-US" dirty="0"/>
              <a:t>Stretch, refill, and bring your questions.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952500"/>
            <a:ext cx="9398000" cy="1079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222500"/>
            <a:ext cx="9906000" cy="35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</p:sldLayoutIdLst>
  <p:txStyles>
    <p:titleStyle>
      <a:lvl1pPr algn="l">
        <a:lnSpc>
          <a:spcPct val="98000"/>
        </a:lnSpc>
        <a:spcBef>
          <a:spcPct val="0"/>
        </a:spcBef>
        <a:buNone/>
        <a:defRPr sz="3200" b="1" spc="-48">
          <a:solidFill>
            <a:srgbClr val="FFFFFF"/>
          </a:solidFill>
          <a:latin typeface="Space Grotesk"/>
          <a:ea typeface="Space Grotesk"/>
          <a:cs typeface="Space Grotesk"/>
        </a:defRPr>
      </a:lvl1pPr>
    </p:titleStyle>
    <p:bodyStyle>
      <a:lvl1pPr algn="l" marL="215900" indent="-215900">
        <a:lnSpc>
          <a:spcPct val="130000"/>
        </a:lnSpc>
        <a:spcBef>
          <a:spcPts val="1000"/>
        </a:spcBef>
        <a:buClr>
          <a:srgbClr val="8C6CA6"/>
        </a:buClr>
        <a:buSzPct val="100000"/>
        <a:buFont typeface="Inter"/>
        <a:buChar char="•"/>
        <a:defRPr sz="1800" b="0">
          <a:solidFill>
            <a:srgbClr val="8C6CA6"/>
          </a:solidFill>
          <a:latin typeface="Inter"/>
          <a:ea typeface="Inter"/>
          <a:cs typeface="Inter"/>
        </a:defRPr>
      </a:lvl1pPr>
      <a:lvl2pPr algn="l" marL="469900" indent="-215900">
        <a:lnSpc>
          <a:spcPct val="130000"/>
        </a:lnSpc>
        <a:spcBef>
          <a:spcPts val="1000"/>
        </a:spcBef>
        <a:buClr>
          <a:srgbClr val="8C6CA6"/>
        </a:buClr>
        <a:buSzPct val="100000"/>
        <a:buFont typeface="Inter"/>
        <a:buChar char="—"/>
        <a:defRPr sz="1600" b="0">
          <a:solidFill>
            <a:srgbClr val="8C6CA6"/>
          </a:solidFill>
          <a:latin typeface="Inter"/>
          <a:ea typeface="Inter"/>
          <a:cs typeface="Inter"/>
        </a:defRPr>
      </a:lvl2pPr>
      <a:lvl3pPr algn="l" marL="723900" indent="-215900">
        <a:lnSpc>
          <a:spcPct val="130000"/>
        </a:lnSpc>
        <a:spcBef>
          <a:spcPts val="1000"/>
        </a:spcBef>
        <a:buClr>
          <a:srgbClr val="8C6CA6"/>
        </a:buClr>
        <a:buSzPct val="100000"/>
        <a:buFont typeface="Inter"/>
        <a:buChar char="—"/>
        <a:defRPr sz="1400" b="0">
          <a:solidFill>
            <a:srgbClr val="8C6CA6"/>
          </a:solidFill>
          <a:latin typeface="Inter"/>
          <a:ea typeface="Inter"/>
          <a:cs typeface="Inter"/>
        </a:defRPr>
      </a:lvl3pPr>
    </p:bodyStyle>
    <p:otherStyle>
      <a:lvl1pPr algn="l" marL="0" indent="0">
        <a:spcBef>
          <a:spcPts val="0"/>
        </a:spcBef>
        <a:buNone/>
        <a:defRPr sz="1600" b="0">
          <a:solidFill>
            <a:srgbClr val="8C6CA6"/>
          </a:solidFill>
          <a:latin typeface="Inter"/>
          <a:ea typeface="Inter"/>
          <a:cs typeface="Inter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23.png"/><Relationship Id="rId12" Type="http://schemas.openxmlformats.org/officeDocument/2006/relationships/image" Target="../media/image33.png"/><Relationship Id="rId13" Type="http://schemas.openxmlformats.org/officeDocument/2006/relationships/image" Target="../media/image3.png"/><Relationship Id="rId14" Type="http://schemas.openxmlformats.org/officeDocument/2006/relationships/image" Target="../media/image11.png"/><Relationship Id="rId15" Type="http://schemas.openxmlformats.org/officeDocument/2006/relationships/image" Target="../media/image4.png"/><Relationship Id="rId16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23.png"/><Relationship Id="rId12" Type="http://schemas.openxmlformats.org/officeDocument/2006/relationships/image" Target="../media/image34.png"/><Relationship Id="rId13" Type="http://schemas.openxmlformats.org/officeDocument/2006/relationships/image" Target="../media/image15.png"/><Relationship Id="rId14" Type="http://schemas.openxmlformats.org/officeDocument/2006/relationships/image" Target="../media/image11.png"/><Relationship Id="rId15" Type="http://schemas.openxmlformats.org/officeDocument/2006/relationships/image" Target="../media/image4.png"/><Relationship Id="rId16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INTERMEDIATE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Ten years of Envoy: what the proxy taught us about platforms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AI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ADVANCED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4"/>
          </p:nvPr>
        </p:nvSpPr>
        <p:spPr/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Routing LLM traffic with Envoy AI Gateway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4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ABOUT 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Role · Company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Maintainer of an Envoy ecosystem project</a:t>
            </a:r>
          </a:p>
          <a:p>
            <a:pPr/>
            <a:r>
              <a:t>Works on gateways, routing, and policy</a:t>
            </a:r>
          </a:p>
          <a:p>
            <a:pPr/>
            <a:r>
              <a:t>Previously built platforms at scale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GITHUB @HANDLE  ·  LINKEDIN /IN/HANDLE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PART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Where Envoy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587500"/>
            <a:ext cx="5715000" cy="215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sz="18000" b="1">
                <a:solidFill>
                  <a:srgbClr val="FFFFFF"/>
                </a:solidFill>
                <a:latin typeface="Space Grotesk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LESSON 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Start with the traffic shape, not the feature list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Long-running, body-dependent requests break request-count limits</a:t>
            </a:r>
          </a:p>
          <a:p>
            <a:pPr lvl="1"/>
            <a:r>
              <a:t>Price by tokens, not by calls</a:t>
            </a:r>
          </a:p>
          <a:p>
            <a:pPr/>
            <a:r>
              <a:t>Route on what the request contains</a:t>
            </a:r>
          </a:p>
          <a:p>
            <a:pPr/>
            <a:r>
              <a:t>Make the policy observable before you enforce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BEFORE / AFTER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From sidecar sprawl to one gateway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/>
            <a:r>
              <a:t>BEFORE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Per-team ingress configs</a:t>
            </a:r>
          </a:p>
          <a:p>
            <a:pPr/>
            <a:r>
              <a:t>Policy copied into every service</a:t>
            </a:r>
          </a:p>
          <a:p>
            <a:pPr/>
            <a:r>
              <a:t>No shared view of traffic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pPr/>
            <a:r>
              <a:t>AFTER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Gateway API as the contract</a:t>
            </a:r>
          </a:p>
          <a:p>
            <a:pPr/>
            <a:r>
              <a:t>Policy attached once, at the edge</a:t>
            </a:r>
          </a:p>
          <a:p>
            <a:pPr/>
            <a:r>
              <a:t>One place to observe and debug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CONFIG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Attach a route in five 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HTTPROUTE.YAML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apiVersion: gateway.networking.k8s.io/v1</a:t>
            </a:r>
          </a:p>
          <a:p>
            <a:pPr/>
            <a:r>
              <a:t>kind: HTTPRoute</a:t>
            </a:r>
          </a:p>
          <a:p>
            <a:pPr/>
            <a:r>
              <a:t>metadata:</a:t>
            </a:r>
          </a:p>
          <a:p>
            <a:pPr/>
            <a:r>
              <a:t>  name: backend</a:t>
            </a:r>
          </a:p>
          <a:p>
            <a:pPr/>
            <a:r>
              <a:t>spec:</a:t>
            </a:r>
          </a:p>
          <a:p>
            <a:pPr/>
            <a:r>
              <a:t>  parentRefs:</a:t>
            </a:r>
          </a:p>
          <a:p>
            <a:pPr/>
            <a:r>
              <a:t>    - name: eg</a:t>
            </a:r>
          </a:p>
          <a:p>
            <a:pPr/>
            <a:r>
              <a:t>  rules:</a:t>
            </a:r>
          </a:p>
          <a:p>
            <a:pPr/>
            <a:r>
              <a:t>    - backendRefs:</a:t>
            </a:r>
          </a:p>
          <a:p>
            <a:pPr/>
            <a:r>
              <a:t>        - name: backend</a:t>
            </a:r>
          </a:p>
          <a:p>
            <a:pPr/>
            <a:r>
              <a:t>          port: 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One diagram, one idea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1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BY THE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years of Envoy in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2016 — 2026</a:t>
            </a:r>
          </a:p>
        </p:txBody>
      </p:sp>
      <p:pic>
        <p:nvPicPr>
          <p:cNvPr id="5" name="Gradient numeral 10" descr="num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460500"/>
            <a:ext cx="2817356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THE TAKEAWAY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best infrastructure disappears — until the day you need to explain 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GITHUB @HANDLE  ·  LINKEDIN /IN/HANDLE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10 Year Anniversary Edition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Welcome to EnvoyCon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One community, and a decade of the proxy that runs the cloud-native world.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TODAY · ALL TIMES LOCAL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159000"/>
          <a:ext cx="10566400" cy="3556000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  <a:gridCol w="5867400"/>
                <a:gridCol w="3175000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13:00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Welcome &amp; opening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Hosts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13:10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Keynote: ten years of Envoy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13:40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Session title goes here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14:10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Session title goes here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14:20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88828D"/>
                          </a:solidFill>
                          <a:latin typeface="Space Grotesk"/>
                        </a:rPr>
                        <a:t>Break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14:30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Lightning talks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Various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BA6E8"/>
                          </a:solidFill>
                          <a:latin typeface="JetBrains Mono"/>
                        </a:rPr>
                        <a:t>15:50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Space Grotesk"/>
                        </a:rPr>
                        <a:t>Closing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BCB9BF"/>
                          </a:solidFill>
                          <a:latin typeface="Inter"/>
                        </a:rPr>
                        <a:t>Hosts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461F4E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4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Up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AI INFRASTRUCTURE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Routing LLM traffic with Envoy AI Gateway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STARTS 13:40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Short break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Back at 14:30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Stretch, refill, and bring your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Wrap-up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Thanks for joining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EnvoyCon Hosts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RECORDINGS &amp; SLIDES TO FOLLOW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ASSET SHELF · COPY &amp; PASTE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Gradient numerals, chips and a round headshot</a:t>
            </a:r>
          </a:p>
        </p:txBody>
      </p:sp>
      <p:pic>
        <p:nvPicPr>
          <p:cNvPr id="4" name="Gradient numeral 01" descr="nu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286000"/>
            <a:ext cx="915641" cy="825500"/>
          </a:xfrm>
          <a:prstGeom prst="rect">
            <a:avLst/>
          </a:prstGeom>
        </p:spPr>
      </p:pic>
      <p:pic>
        <p:nvPicPr>
          <p:cNvPr id="5" name="Gradient numeral 02" descr="num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286000"/>
            <a:ext cx="1036619" cy="825500"/>
          </a:xfrm>
          <a:prstGeom prst="rect">
            <a:avLst/>
          </a:prstGeom>
        </p:spPr>
      </p:pic>
      <p:pic>
        <p:nvPicPr>
          <p:cNvPr id="6" name="Gradient numeral 03" descr="num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0" y="2286000"/>
            <a:ext cx="1048480" cy="825500"/>
          </a:xfrm>
          <a:prstGeom prst="rect">
            <a:avLst/>
          </a:prstGeom>
        </p:spPr>
      </p:pic>
      <p:pic>
        <p:nvPicPr>
          <p:cNvPr id="7" name="Gradient numeral 04" descr="num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2286000"/>
            <a:ext cx="1072201" cy="825500"/>
          </a:xfrm>
          <a:prstGeom prst="rect">
            <a:avLst/>
          </a:prstGeom>
        </p:spPr>
      </p:pic>
      <p:pic>
        <p:nvPicPr>
          <p:cNvPr id="8" name="Gradient numeral 05" descr="num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2286000"/>
            <a:ext cx="1041364" cy="825500"/>
          </a:xfrm>
          <a:prstGeom prst="rect">
            <a:avLst/>
          </a:prstGeom>
        </p:spPr>
      </p:pic>
      <p:pic>
        <p:nvPicPr>
          <p:cNvPr id="9" name="Gradient numeral 06" descr="num-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365500"/>
            <a:ext cx="1055596" cy="825500"/>
          </a:xfrm>
          <a:prstGeom prst="rect">
            <a:avLst/>
          </a:prstGeom>
        </p:spPr>
      </p:pic>
      <p:pic>
        <p:nvPicPr>
          <p:cNvPr id="10" name="Gradient numeral 07" descr="num-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3365500"/>
            <a:ext cx="984432" cy="825500"/>
          </a:xfrm>
          <a:prstGeom prst="rect">
            <a:avLst/>
          </a:prstGeom>
        </p:spPr>
      </p:pic>
      <p:pic>
        <p:nvPicPr>
          <p:cNvPr id="11" name="Gradient numeral 08" descr="num-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2000" y="3365500"/>
            <a:ext cx="1041364" cy="825500"/>
          </a:xfrm>
          <a:prstGeom prst="rect">
            <a:avLst/>
          </a:prstGeom>
        </p:spPr>
      </p:pic>
      <p:pic>
        <p:nvPicPr>
          <p:cNvPr id="12" name="Gradient numeral 09" descr="num-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600" y="3365500"/>
            <a:ext cx="1055596" cy="825500"/>
          </a:xfrm>
          <a:prstGeom prst="rect">
            <a:avLst/>
          </a:prstGeom>
        </p:spPr>
      </p:pic>
      <p:pic>
        <p:nvPicPr>
          <p:cNvPr id="13" name="Gradient numeral 10" descr="num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200" y="3365500"/>
            <a:ext cx="915641" cy="825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02500" y="2413000"/>
            <a:ext cx="1460500" cy="317500"/>
          </a:xfrm>
          <a:prstGeom prst="roundRect">
            <a:avLst>
              <a:gd name="adj" fmla="val 50000"/>
            </a:avLst>
          </a:prstGeom>
          <a:solidFill>
            <a:srgbClr val="592860"/>
          </a:solidFill>
          <a:ln w="9525">
            <a:solidFill>
              <a:srgbClr val="D16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JetBrains Mono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0" y="2413000"/>
            <a:ext cx="1460500" cy="317500"/>
          </a:xfrm>
          <a:prstGeom prst="roundRect">
            <a:avLst>
              <a:gd name="adj" fmla="val 50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EBA6E8"/>
                </a:solidFill>
                <a:latin typeface="JetBrains Mono"/>
              </a:rPr>
              <a:t>LEVEL</a:t>
            </a:r>
          </a:p>
        </p:txBody>
      </p:sp>
      <p:pic>
        <p:nvPicPr>
          <p:cNvPr id="16" name="Round headshot (copy me)" descr="photo-placehol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2984500"/>
            <a:ext cx="2667000" cy="2667000"/>
          </a:xfrm>
          <a:prstGeom prst="ellipse">
            <a:avLst/>
          </a:prstGeom>
          <a:ln w="50800">
            <a:solidFill>
              <a:srgbClr val="D163CE"/>
            </a:solidFill>
          </a:ln>
        </p:spPr>
      </p:pic>
      <p:pic>
        <p:nvPicPr>
          <p:cNvPr id="17" name="Header lockup" descr="lock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4699000"/>
            <a:ext cx="2206544" cy="355600"/>
          </a:xfrm>
          <a:prstGeom prst="rect">
            <a:avLst/>
          </a:prstGeom>
        </p:spPr>
      </p:pic>
      <p:pic>
        <p:nvPicPr>
          <p:cNvPr id="18" name="Accent bar (horizontal)" descr="bar-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97500"/>
            <a:ext cx="609600" cy="40640"/>
          </a:xfrm>
          <a:prstGeom prst="rect">
            <a:avLst/>
          </a:prstGeom>
        </p:spPr>
      </p:pic>
      <p:pic>
        <p:nvPicPr>
          <p:cNvPr id="19" name="Accent bar (vertical)" descr="bar-v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1000" y="5207000"/>
            <a:ext cx="508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INTERMEDIATE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Ten years of Envoy: what the proxy taught us about platforms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AI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ADVANCED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4"/>
          </p:nvPr>
        </p:nvSpPr>
        <p:spPr/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Routing LLM traffic with Envoy AI Gateway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4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ABOUT 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Role · Company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Maintainer of an Envoy ecosystem project</a:t>
            </a:r>
          </a:p>
          <a:p>
            <a:pPr/>
            <a:r>
              <a:t>Works on gateways, routing, and policy</a:t>
            </a:r>
          </a:p>
          <a:p>
            <a:pPr/>
            <a:r>
              <a:t>Previously built platforms at scale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GITHUB @HANDLE  ·  LINKEDIN /IN/HANDLE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PART 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Where Envoy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587500"/>
            <a:ext cx="5715000" cy="215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sz="18000" b="1">
                <a:solidFill>
                  <a:srgbClr val="FFFFFF"/>
                </a:solidFill>
                <a:latin typeface="Space Grotesk"/>
              </a:rPr>
              <a:t>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LESSON 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Start with the traffic shape, not the feature list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Long-running, body-dependent requests break request-count limits</a:t>
            </a:r>
          </a:p>
          <a:p>
            <a:pPr lvl="1"/>
            <a:r>
              <a:t>Price by tokens, not by calls</a:t>
            </a:r>
          </a:p>
          <a:p>
            <a:pPr/>
            <a:r>
              <a:t>Route on what the request contains</a:t>
            </a:r>
          </a:p>
          <a:p>
            <a:pPr/>
            <a:r>
              <a:t>Make the policy observable before you enforce 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BEFORE / AFTER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From sidecar sprawl to one gateway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/>
            <a:r>
              <a:t>BEFORE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Per-team ingress configs</a:t>
            </a:r>
          </a:p>
          <a:p>
            <a:pPr/>
            <a:r>
              <a:t>Policy copied into every service</a:t>
            </a:r>
          </a:p>
          <a:p>
            <a:pPr/>
            <a:r>
              <a:t>No shared view of traffic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pPr/>
            <a:r>
              <a:t>AFTER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Gateway API as the contract</a:t>
            </a:r>
          </a:p>
          <a:p>
            <a:pPr/>
            <a:r>
              <a:t>Policy attached once, at the edge</a:t>
            </a:r>
          </a:p>
          <a:p>
            <a:pPr/>
            <a:r>
              <a:t>One place to observe and debug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CONFIG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Attach a route in five lines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HTTPROUTE.YAML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apiVersion: gateway.networking.k8s.io/v1</a:t>
            </a:r>
          </a:p>
          <a:p>
            <a:pPr/>
            <a:r>
              <a:t>kind: HTTPRoute</a:t>
            </a:r>
          </a:p>
          <a:p>
            <a:pPr/>
            <a:r>
              <a:t>metadata:</a:t>
            </a:r>
          </a:p>
          <a:p>
            <a:pPr/>
            <a:r>
              <a:t>  name: backend</a:t>
            </a:r>
          </a:p>
          <a:p>
            <a:pPr/>
            <a:r>
              <a:t>spec:</a:t>
            </a:r>
          </a:p>
          <a:p>
            <a:pPr/>
            <a:r>
              <a:t>  parentRefs:</a:t>
            </a:r>
          </a:p>
          <a:p>
            <a:pPr/>
            <a:r>
              <a:t>    - name: eg</a:t>
            </a:r>
          </a:p>
          <a:p>
            <a:pPr/>
            <a:r>
              <a:t>  rules:</a:t>
            </a:r>
          </a:p>
          <a:p>
            <a:pPr/>
            <a:r>
              <a:t>    - backendRefs:</a:t>
            </a:r>
          </a:p>
          <a:p>
            <a:pPr/>
            <a:r>
              <a:t>        - name: backend</a:t>
            </a:r>
          </a:p>
          <a:p>
            <a:pPr/>
            <a:r>
              <a:t>          port: 3000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One diagram, one idea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1"/>
          </p:nvPr>
        </p:nvSpPr>
        <p:spPr/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BY THE 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years of Envoy in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2016 — 2026</a:t>
            </a:r>
          </a:p>
        </p:txBody>
      </p:sp>
      <p:pic>
        <p:nvPicPr>
          <p:cNvPr id="5" name="Gradient numeral 10" descr="num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460500"/>
            <a:ext cx="2817356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THE TAKEAWAY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best infrastructure disappears — until the day you need to explain 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GITHUB @HANDLE  ·  LINKEDIN /IN/HANDLE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10 Year Anniversary Edition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Welcome to EnvoyCon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One community, and a decade of the proxy that runs the cloud-native world.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TODAY · ALL TIMES LOCAL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159000"/>
          <a:ext cx="10566400" cy="3556000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  <a:gridCol w="5867400"/>
                <a:gridCol w="3175000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13:00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Welcome &amp; opening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Hosts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13:10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Keynote: ten years of Envoy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13:40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Session title goes here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14:10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Session title goes here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Speaker Name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14:20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867E8D"/>
                          </a:solidFill>
                          <a:latin typeface="Space Grotesk"/>
                        </a:rPr>
                        <a:t>Break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14:30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Lightning talks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Various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31AAB"/>
                          </a:solidFill>
                          <a:latin typeface="JetBrains Mono"/>
                        </a:rPr>
                        <a:t>15:50</a:t>
                      </a:r>
                    </a:p>
                  </a:txBody>
                  <a:tcPr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041C"/>
                          </a:solidFill>
                          <a:latin typeface="Space Grotesk"/>
                        </a:rPr>
                        <a:t>Closing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24859"/>
                          </a:solidFill>
                          <a:latin typeface="Inter"/>
                        </a:rPr>
                        <a:t>Hosts</a:t>
                      </a:r>
                    </a:p>
                  </a:txBody>
                  <a:tcPr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9C1E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4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Up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AI INFRASTRUCTURE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Routing LLM traffic with Envoy AI Gateway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Speaker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Maintainer · Company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STARTS 13:40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Short break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Back at 14:30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Stretch, refill, and bring your questions.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Wrap-up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Thanks for joining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EnvoyCon Hosts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t>RECORDINGS &amp; SLIDES TO FOLLOW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ASSET SHELF · COPY &amp; PASTE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Gradient numerals, chips and a round headshot</a:t>
            </a:r>
          </a:p>
        </p:txBody>
      </p:sp>
      <p:pic>
        <p:nvPicPr>
          <p:cNvPr id="4" name="Gradient numeral 01" descr="nu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286000"/>
            <a:ext cx="915641" cy="825500"/>
          </a:xfrm>
          <a:prstGeom prst="rect">
            <a:avLst/>
          </a:prstGeom>
        </p:spPr>
      </p:pic>
      <p:pic>
        <p:nvPicPr>
          <p:cNvPr id="5" name="Gradient numeral 02" descr="num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286000"/>
            <a:ext cx="1036619" cy="825500"/>
          </a:xfrm>
          <a:prstGeom prst="rect">
            <a:avLst/>
          </a:prstGeom>
        </p:spPr>
      </p:pic>
      <p:pic>
        <p:nvPicPr>
          <p:cNvPr id="6" name="Gradient numeral 03" descr="num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0" y="2286000"/>
            <a:ext cx="1048480" cy="825500"/>
          </a:xfrm>
          <a:prstGeom prst="rect">
            <a:avLst/>
          </a:prstGeom>
        </p:spPr>
      </p:pic>
      <p:pic>
        <p:nvPicPr>
          <p:cNvPr id="7" name="Gradient numeral 04" descr="num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2286000"/>
            <a:ext cx="1072201" cy="825500"/>
          </a:xfrm>
          <a:prstGeom prst="rect">
            <a:avLst/>
          </a:prstGeom>
        </p:spPr>
      </p:pic>
      <p:pic>
        <p:nvPicPr>
          <p:cNvPr id="8" name="Gradient numeral 05" descr="num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2286000"/>
            <a:ext cx="1041364" cy="825500"/>
          </a:xfrm>
          <a:prstGeom prst="rect">
            <a:avLst/>
          </a:prstGeom>
        </p:spPr>
      </p:pic>
      <p:pic>
        <p:nvPicPr>
          <p:cNvPr id="9" name="Gradient numeral 06" descr="num-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3365500"/>
            <a:ext cx="1055596" cy="825500"/>
          </a:xfrm>
          <a:prstGeom prst="rect">
            <a:avLst/>
          </a:prstGeom>
        </p:spPr>
      </p:pic>
      <p:pic>
        <p:nvPicPr>
          <p:cNvPr id="10" name="Gradient numeral 07" descr="num-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3365500"/>
            <a:ext cx="984432" cy="825500"/>
          </a:xfrm>
          <a:prstGeom prst="rect">
            <a:avLst/>
          </a:prstGeom>
        </p:spPr>
      </p:pic>
      <p:pic>
        <p:nvPicPr>
          <p:cNvPr id="11" name="Gradient numeral 08" descr="num-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2000" y="3365500"/>
            <a:ext cx="1041364" cy="825500"/>
          </a:xfrm>
          <a:prstGeom prst="rect">
            <a:avLst/>
          </a:prstGeom>
        </p:spPr>
      </p:pic>
      <p:pic>
        <p:nvPicPr>
          <p:cNvPr id="12" name="Gradient numeral 09" descr="num-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600" y="3365500"/>
            <a:ext cx="1055596" cy="825500"/>
          </a:xfrm>
          <a:prstGeom prst="rect">
            <a:avLst/>
          </a:prstGeom>
        </p:spPr>
      </p:pic>
      <p:pic>
        <p:nvPicPr>
          <p:cNvPr id="13" name="Gradient numeral 10" descr="num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200" y="3365500"/>
            <a:ext cx="915641" cy="825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02500" y="2413000"/>
            <a:ext cx="1460500" cy="317500"/>
          </a:xfrm>
          <a:prstGeom prst="roundRect">
            <a:avLst>
              <a:gd name="adj" fmla="val 50000"/>
            </a:avLst>
          </a:prstGeom>
          <a:solidFill>
            <a:srgbClr val="F3DDF5"/>
          </a:solidFill>
          <a:ln w="9525">
            <a:solidFill>
              <a:srgbClr val="D16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041C"/>
                </a:solidFill>
                <a:latin typeface="JetBrains Mono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0" y="2413000"/>
            <a:ext cx="1460500" cy="317500"/>
          </a:xfrm>
          <a:prstGeom prst="roundRect">
            <a:avLst>
              <a:gd name="adj" fmla="val 50000"/>
            </a:avLst>
          </a:prstGeom>
          <a:solidFill>
            <a:srgbClr val="F3EAF6"/>
          </a:solidFill>
          <a:ln w="9525">
            <a:solidFill>
              <a:srgbClr val="E9C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B31AAB"/>
                </a:solidFill>
                <a:latin typeface="JetBrains Mono"/>
              </a:rPr>
              <a:t>LEVEL</a:t>
            </a:r>
          </a:p>
        </p:txBody>
      </p:sp>
      <p:pic>
        <p:nvPicPr>
          <p:cNvPr id="16" name="Round headshot (copy me)" descr="photo-placehol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2984500"/>
            <a:ext cx="2667000" cy="2667000"/>
          </a:xfrm>
          <a:prstGeom prst="ellipse">
            <a:avLst/>
          </a:prstGeom>
          <a:ln w="50800">
            <a:solidFill>
              <a:srgbClr val="D163CE"/>
            </a:solidFill>
          </a:ln>
        </p:spPr>
      </p:pic>
      <p:pic>
        <p:nvPicPr>
          <p:cNvPr id="17" name="Header lockup" descr="lock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4699000"/>
            <a:ext cx="2206544" cy="355600"/>
          </a:xfrm>
          <a:prstGeom prst="rect">
            <a:avLst/>
          </a:prstGeom>
        </p:spPr>
      </p:pic>
      <p:pic>
        <p:nvPicPr>
          <p:cNvPr id="18" name="Accent bar (horizontal)" descr="bar-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800" y="5397500"/>
            <a:ext cx="609600" cy="40640"/>
          </a:xfrm>
          <a:prstGeom prst="rect">
            <a:avLst/>
          </a:prstGeom>
        </p:spPr>
      </p:pic>
      <p:pic>
        <p:nvPicPr>
          <p:cNvPr id="19" name="Accent bar (vertical)" descr="bar-v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1000" y="5207000"/>
            <a:ext cx="508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START HERE · DELETE BEFORE YOU PRESENT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How to use this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2489200" cy="2984500"/>
          </a:xfrm>
          <a:prstGeom prst="roundRect">
            <a:avLst>
              <a:gd name="adj" fmla="val 6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5" name="Gradient numeral 01" descr="nu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49500"/>
            <a:ext cx="676166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1400" y="3238500"/>
            <a:ext cx="2032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Space Grotesk"/>
              </a:rPr>
              <a:t>Make a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657600"/>
            <a:ext cx="2032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BCB9BF"/>
                </a:solidFill>
                <a:latin typeface="Inter"/>
              </a:rPr>
              <a:t>File → Make a copy. Work in your copy, never the original. Pick Dark or Light for the whole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200" y="2159000"/>
            <a:ext cx="2489200" cy="2984500"/>
          </a:xfrm>
          <a:prstGeom prst="roundRect">
            <a:avLst>
              <a:gd name="adj" fmla="val 6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9" name="Gradient numeral 02" descr="num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2349500"/>
            <a:ext cx="765503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33800" y="3238500"/>
            <a:ext cx="2032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Space Grotesk"/>
              </a:rPr>
              <a:t>Add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800" y="3657600"/>
            <a:ext cx="2032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BCB9BF"/>
                </a:solidFill>
                <a:latin typeface="Inter"/>
              </a:rPr>
              <a:t>Click ▾ next to + and pick a layout. Every layout comes as “Dark ·” and “Light ·”.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159000"/>
            <a:ext cx="2489200" cy="2984500"/>
          </a:xfrm>
          <a:prstGeom prst="roundRect">
            <a:avLst>
              <a:gd name="adj" fmla="val 6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3" name="Gradient numeral 03" descr="num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2349500"/>
            <a:ext cx="774262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6200" y="3238500"/>
            <a:ext cx="2032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Space Grotesk"/>
              </a:rPr>
              <a:t>Add a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3657600"/>
            <a:ext cx="2032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BCB9BF"/>
                </a:solidFill>
                <a:latin typeface="Inter"/>
              </a:rPr>
              <a:t>Click the image button in the round frame and upload a square photo. Swap it later with Replace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0000" y="2159000"/>
            <a:ext cx="2489200" cy="2984500"/>
          </a:xfrm>
          <a:prstGeom prst="roundRect">
            <a:avLst>
              <a:gd name="adj" fmla="val 6000"/>
            </a:avLst>
          </a:prstGeom>
          <a:solidFill>
            <a:srgbClr val="1C0930"/>
          </a:solidFill>
          <a:ln w="9525">
            <a:solidFill>
              <a:srgbClr val="461F4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" name="Gradient numeral 04" descr="num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2349500"/>
            <a:ext cx="791779" cy="609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18600" y="3238500"/>
            <a:ext cx="2032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Space Grotesk"/>
              </a:rPr>
              <a:t>Finish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600" y="3657600"/>
            <a:ext cx="2032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0">
                <a:solidFill>
                  <a:srgbClr val="BCB9BF"/>
                </a:solidFill>
                <a:latin typeface="Inter"/>
              </a:rPr>
              <a:t>New section? Duplicate the pink divider and change its number. Then delete the guide and sample slides.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308600"/>
            <a:ext cx="10566400" cy="609600"/>
          </a:xfrm>
          <a:prstGeom prst="roundRect">
            <a:avLst>
              <a:gd name="adj" fmla="val 50000"/>
            </a:avLst>
          </a:prstGeom>
          <a:solidFill>
            <a:srgbClr val="270730"/>
          </a:solidFill>
          <a:ln w="9525">
            <a:solidFill>
              <a:srgbClr val="461F4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66800" y="5308600"/>
            <a:ext cx="10058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900" b="1">
                <a:solidFill>
                  <a:srgbClr val="EBA6E8"/>
                </a:solidFill>
                <a:latin typeface="JetBrains Mono"/>
              </a:rPr>
              <a:t>HEADLINES</a:t>
            </a:r>
            <a:r>
              <a:rPr sz="900" b="0">
                <a:solidFill>
                  <a:srgbClr val="EBA6E8"/>
                </a:solidFill>
                <a:latin typeface="JetBrains Mono"/>
              </a:rPr>
              <a:t> SPACE GROTESK</a:t>
            </a:r>
            <a:r>
              <a:rPr sz="900" b="0">
                <a:solidFill>
                  <a:srgbClr val="88828D"/>
                </a:solidFill>
                <a:latin typeface="JetBrains Mono"/>
              </a:rPr>
              <a:t>   ·   </a:t>
            </a:r>
            <a:r>
              <a:rPr sz="900" b="1">
                <a:solidFill>
                  <a:srgbClr val="EBA6E8"/>
                </a:solidFill>
                <a:latin typeface="JetBrains Mono"/>
              </a:rPr>
              <a:t>BODY</a:t>
            </a:r>
            <a:r>
              <a:rPr sz="900" b="0">
                <a:solidFill>
                  <a:srgbClr val="EBA6E8"/>
                </a:solidFill>
                <a:latin typeface="JetBrains Mono"/>
              </a:rPr>
              <a:t> INTER</a:t>
            </a:r>
            <a:r>
              <a:rPr sz="900" b="0">
                <a:solidFill>
                  <a:srgbClr val="88828D"/>
                </a:solidFill>
                <a:latin typeface="JetBrains Mono"/>
              </a:rPr>
              <a:t>   ·   </a:t>
            </a:r>
            <a:r>
              <a:rPr sz="900" b="1">
                <a:solidFill>
                  <a:srgbClr val="EBA6E8"/>
                </a:solidFill>
                <a:latin typeface="JetBrains Mono"/>
              </a:rPr>
              <a:t>LABELS</a:t>
            </a:r>
            <a:r>
              <a:rPr sz="900" b="0">
                <a:solidFill>
                  <a:srgbClr val="EBA6E8"/>
                </a:solidFill>
                <a:latin typeface="JetBrains Mono"/>
              </a:rPr>
              <a:t> JETBRAINS MONO, ALL CAPS</a:t>
            </a:r>
            <a:r>
              <a:rPr sz="900" b="0">
                <a:solidFill>
                  <a:srgbClr val="88828D"/>
                </a:solidFill>
                <a:latin typeface="JetBrains Mono"/>
              </a:rPr>
              <a:t>   ·   </a:t>
            </a:r>
            <a:r>
              <a:rPr sz="900" b="1">
                <a:solidFill>
                  <a:srgbClr val="EBA6E8"/>
                </a:solidFill>
                <a:latin typeface="JetBrains Mono"/>
              </a:rPr>
              <a:t>NO EMOJI</a:t>
            </a:r>
            <a:r>
              <a:rPr sz="900" b="0">
                <a:solidFill>
                  <a:srgbClr val="88828D"/>
                </a:solidFill>
                <a:latin typeface="JetBrains Mono"/>
              </a:rPr>
              <a:t>   ·   </a:t>
            </a:r>
            <a:r>
              <a:rPr sz="900" b="1">
                <a:solidFill>
                  <a:srgbClr val="EBA6E8"/>
                </a:solidFill>
                <a:latin typeface="JetBrains Mono"/>
              </a:rPr>
              <a:t>NO URLS ON SLIDES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START HERE · LAYOUT 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Which layout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33600"/>
            <a:ext cx="444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000" b="1">
                <a:solidFill>
                  <a:srgbClr val="EBA6E8"/>
                </a:solidFill>
                <a:latin typeface="JetBrains Mono"/>
              </a:rPr>
              <a:t>SPEAKER LAYOUTS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12800" y="2400300"/>
            <a:ext cx="52070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12800" y="2489200"/>
            <a:ext cx="5207000" cy="3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Talk Title</a:t>
            </a:r>
            <a:r>
              <a:rPr sz="1150" b="0">
                <a:solidFill>
                  <a:srgbClr val="BCB9BF"/>
                </a:solidFill>
                <a:latin typeface="Inter"/>
              </a:rPr>
              <a:t>   opening slide, no photo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Talk Title · Photo</a:t>
            </a:r>
            <a:r>
              <a:rPr sz="1150" b="0">
                <a:solidFill>
                  <a:srgbClr val="BCB9BF"/>
                </a:solidFill>
                <a:latin typeface="Inter"/>
              </a:rPr>
              <a:t>   opening slide with your headshot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About Me</a:t>
            </a:r>
            <a:r>
              <a:rPr sz="1150" b="0">
                <a:solidFill>
                  <a:srgbClr val="BCB9BF"/>
                </a:solidFill>
                <a:latin typeface="Inter"/>
              </a:rPr>
              <a:t>   who you are, with headshot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Section Divider</a:t>
            </a:r>
            <a:r>
              <a:rPr sz="1150" b="0">
                <a:solidFill>
                  <a:srgbClr val="BCB9BF"/>
                </a:solidFill>
                <a:latin typeface="Inter"/>
              </a:rPr>
              <a:t>   pink chapter break, big number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Title + Content</a:t>
            </a:r>
            <a:r>
              <a:rPr sz="1150" b="0">
                <a:solidFill>
                  <a:srgbClr val="BCB9BF"/>
                </a:solidFill>
                <a:latin typeface="Inter"/>
              </a:rPr>
              <a:t>   the everyday slide: title + 3–5 bullets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Two Columns</a:t>
            </a:r>
            <a:r>
              <a:rPr sz="1150" b="0">
                <a:solidFill>
                  <a:srgbClr val="BCB9BF"/>
                </a:solidFill>
                <a:latin typeface="Inter"/>
              </a:rPr>
              <a:t>   compare, before / after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Code</a:t>
            </a:r>
            <a:r>
              <a:rPr sz="1150" b="0">
                <a:solidFill>
                  <a:srgbClr val="BCB9BF"/>
                </a:solidFill>
                <a:latin typeface="Inter"/>
              </a:rPr>
              <a:t>   YAML, config, CLI on a dark panel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Diagram</a:t>
            </a:r>
            <a:r>
              <a:rPr sz="1150" b="0">
                <a:solidFill>
                  <a:srgbClr val="BCB9BF"/>
                </a:solidFill>
                <a:latin typeface="Inter"/>
              </a:rPr>
              <a:t>   one picture, one idea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Big Number</a:t>
            </a:r>
            <a:r>
              <a:rPr sz="1150" b="0">
                <a:solidFill>
                  <a:srgbClr val="BCB9BF"/>
                </a:solidFill>
                <a:latin typeface="Inter"/>
              </a:rPr>
              <a:t>   one stat, gradient numeral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Statement</a:t>
            </a:r>
            <a:r>
              <a:rPr sz="1150" b="0">
                <a:solidFill>
                  <a:srgbClr val="BCB9BF"/>
                </a:solidFill>
                <a:latin typeface="Inter"/>
              </a:rPr>
              <a:t>   the takeaway or a quote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Thank You</a:t>
            </a:r>
            <a:r>
              <a:rPr sz="1150" b="0">
                <a:solidFill>
                  <a:srgbClr val="BCB9BF"/>
                </a:solidFill>
                <a:latin typeface="Inter"/>
              </a:rPr>
              <a:t>   close and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0" y="2133600"/>
            <a:ext cx="444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000" b="1">
                <a:solidFill>
                  <a:srgbClr val="EBA6E8"/>
                </a:solidFill>
                <a:latin typeface="JetBrains Mono"/>
              </a:rPr>
              <a:t>HOST RUN-OF-SHOW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04000" y="2400300"/>
            <a:ext cx="4775200" cy="0"/>
          </a:xfrm>
          <a:prstGeom prst="line">
            <a:avLst/>
          </a:prstGeom>
          <a:ln w="9525">
            <a:solidFill>
              <a:srgbClr val="461F4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604000" y="2489200"/>
            <a:ext cx="5207000" cy="3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Event Welcome</a:t>
            </a:r>
            <a:r>
              <a:rPr sz="1150" b="0">
                <a:solidFill>
                  <a:srgbClr val="BCB9BF"/>
                </a:solidFill>
                <a:latin typeface="Inter"/>
              </a:rPr>
              <a:t>   event opener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Agenda</a:t>
            </a:r>
            <a:r>
              <a:rPr sz="1150" b="0">
                <a:solidFill>
                  <a:srgbClr val="BCB9BF"/>
                </a:solidFill>
                <a:latin typeface="Inter"/>
              </a:rPr>
              <a:t>   the day at a glance (table)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Up Next</a:t>
            </a:r>
            <a:r>
              <a:rPr sz="1150" b="0">
                <a:solidFill>
                  <a:srgbClr val="BCB9BF"/>
                </a:solidFill>
                <a:latin typeface="Inter"/>
              </a:rPr>
              <a:t>   between sessions, with speaker photo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Break</a:t>
            </a:r>
            <a:r>
              <a:rPr sz="1150" b="0">
                <a:solidFill>
                  <a:srgbClr val="BCB9BF"/>
                </a:solidFill>
                <a:latin typeface="Inter"/>
              </a:rPr>
              <a:t>   “Back at 14:30”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Space Grotesk"/>
              </a:rPr>
              <a:t>Thank You</a:t>
            </a:r>
            <a:r>
              <a:rPr sz="1150" b="0">
                <a:solidFill>
                  <a:srgbClr val="BCB9BF"/>
                </a:solidFill>
                <a:latin typeface="Inter"/>
              </a:rPr>
              <a:t>   event closer, badge “Wrap-up”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445000"/>
            <a:ext cx="4775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BCB9BF"/>
                </a:solidFill>
                <a:latin typeface="Inter"/>
              </a:rPr>
              <a:t>Change a slide’s layout any time: </a:t>
            </a:r>
            <a:r>
              <a:rPr sz="1150" b="1">
                <a:solidFill>
                  <a:srgbClr val="FFFFFF"/>
                </a:solidFill>
                <a:latin typeface="Space Grotesk"/>
              </a:rPr>
              <a:t>Slide → Apply layout</a:t>
            </a:r>
            <a:r>
              <a:rPr sz="1150" b="0">
                <a:solidFill>
                  <a:srgbClr val="BCB9BF"/>
                </a:solidFill>
                <a:latin typeface="Inter"/>
              </a:rPr>
              <a:t>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150" b="0">
                <a:solidFill>
                  <a:srgbClr val="BCB9BF"/>
                </a:solidFill>
                <a:latin typeface="Inter"/>
              </a:rPr>
              <a:t>Every layout comes twice: </a:t>
            </a:r>
            <a:r>
              <a:rPr sz="1150" b="1">
                <a:solidFill>
                  <a:srgbClr val="FFFFFF"/>
                </a:solidFill>
                <a:latin typeface="Space Grotesk"/>
              </a:rPr>
              <a:t>Dark ·</a:t>
            </a:r>
            <a:r>
              <a:rPr sz="1150" b="0">
                <a:solidFill>
                  <a:srgbClr val="BCB9BF"/>
                </a:solidFill>
                <a:latin typeface="Inter"/>
              </a:rPr>
              <a:t> and </a:t>
            </a:r>
            <a:r>
              <a:rPr sz="1150" b="1">
                <a:solidFill>
                  <a:srgbClr val="FFFFFF"/>
                </a:solidFill>
                <a:latin typeface="Space Grotesk"/>
              </a:rPr>
              <a:t>Light ·</a:t>
            </a:r>
            <a:r>
              <a:rPr sz="1150" b="0">
                <a:solidFill>
                  <a:srgbClr val="BCB9BF"/>
                </a:solidFill>
                <a:latin typeface="Inter"/>
              </a:rPr>
              <a:t>. Keep one theme per deck; the pink divider works in both.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150" b="0">
                <a:solidFill>
                  <a:srgbClr val="BCB9BF"/>
                </a:solidFill>
                <a:latin typeface="Inter"/>
              </a:rPr>
              <a:t>Theme colors and fonts are built in: </a:t>
            </a:r>
            <a:r>
              <a:rPr sz="1150" b="1">
                <a:solidFill>
                  <a:srgbClr val="FFFFFF"/>
                </a:solidFill>
                <a:latin typeface="Space Grotesk"/>
              </a:rPr>
              <a:t>Slide → Edit theme</a:t>
            </a:r>
            <a:r>
              <a:rPr sz="1150" b="0">
                <a:solidFill>
                  <a:srgbClr val="BCB9BF"/>
                </a:solidFill>
                <a:latin typeface="Inter"/>
              </a:rPr>
              <a:t> shows every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voyCon 10 Years">
  <a:themeElements>
    <a:clrScheme name="EnvoyCon 10 Years">
      <a:dk1>
        <a:srgbClr val="10041C"/>
      </a:dk1>
      <a:lt1>
        <a:srgbClr val="FFFFFF"/>
      </a:lt1>
      <a:dk2>
        <a:srgbClr val="1C0930"/>
      </a:dk2>
      <a:lt2>
        <a:srgbClr val="F3EAF6"/>
      </a:lt2>
      <a:accent1>
        <a:srgbClr val="B31AAB"/>
      </a:accent1>
      <a:accent2>
        <a:srgbClr val="D163CE"/>
      </a:accent2>
      <a:accent3>
        <a:srgbClr val="8A12C4"/>
      </a:accent3>
      <a:accent4>
        <a:srgbClr val="EBA6E8"/>
      </a:accent4>
      <a:accent5>
        <a:srgbClr val="461F4E"/>
      </a:accent5>
      <a:accent6>
        <a:srgbClr val="BCB9BF"/>
      </a:accent6>
      <a:hlink>
        <a:srgbClr val="EBA6E8"/>
      </a:hlink>
      <a:folHlink>
        <a:srgbClr val="D163CE"/>
      </a:folHlink>
    </a:clrScheme>
    <a:fontScheme name="EnvoyCon 10 Years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